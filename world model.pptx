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sldIdLst>
    <p:sldId id="256" r:id="rId3"/>
    <p:sldId id="257" r:id="rId4"/>
    <p:sldId id="258" r:id="rId5"/>
    <p:sldId id="259" r:id="rId6"/>
    <p:sldId id="260" r:id="rId7"/>
    <p:sldId id="261" r:id="rId8"/>
    <p:sldId id="262" r:id="rId9"/>
    <p:sldId id="263" r:id="rId10"/>
    <p:sldId id="264" r:id="rId11"/>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987" autoAdjust="0"/>
    <p:restoredTop sz="94660"/>
  </p:normalViewPr>
  <p:slideViewPr>
    <p:cSldViewPr snapToGrid="0" showGuides="1">
      <p:cViewPr varScale="1">
        <p:scale>
          <a:sx n="116" d="100"/>
          <a:sy n="116" d="100"/>
        </p:scale>
        <p:origin x="336" y="108"/>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7.xml"/><Relationship Id="rId8" Type="http://schemas.openxmlformats.org/officeDocument/2006/relationships/slide" Target="slides/slide6.xml"/><Relationship Id="rId7" Type="http://schemas.openxmlformats.org/officeDocument/2006/relationships/slide" Target="slides/slide5.xml"/><Relationship Id="rId6" Type="http://schemas.openxmlformats.org/officeDocument/2006/relationships/slide" Target="slides/slide4.xml"/><Relationship Id="rId5" Type="http://schemas.openxmlformats.org/officeDocument/2006/relationships/slide" Target="slides/slide3.xml"/><Relationship Id="rId4" Type="http://schemas.openxmlformats.org/officeDocument/2006/relationships/slide" Target="slides/slide2.xml"/><Relationship Id="rId3" Type="http://schemas.openxmlformats.org/officeDocument/2006/relationships/slide" Target="slides/slide1.xml"/><Relationship Id="rId2" Type="http://schemas.openxmlformats.org/officeDocument/2006/relationships/theme" Target="theme/theme1.xml"/><Relationship Id="rId14" Type="http://schemas.openxmlformats.org/officeDocument/2006/relationships/tableStyles" Target="tableStyles.xml"/><Relationship Id="rId13" Type="http://schemas.openxmlformats.org/officeDocument/2006/relationships/viewProps" Target="viewProps.xml"/><Relationship Id="rId12" Type="http://schemas.openxmlformats.org/officeDocument/2006/relationships/presProps" Target="presProps.xml"/><Relationship Id="rId11" Type="http://schemas.openxmlformats.org/officeDocument/2006/relationships/slide" Target="slides/slide9.xml"/><Relationship Id="rId10" Type="http://schemas.openxmlformats.org/officeDocument/2006/relationships/slide" Target="slides/slide8.xml"/><Relationship Id="rId1" Type="http://schemas.openxmlformats.org/officeDocument/2006/relationships/slideMaster" Target="slideMasters/slideMaster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1122363"/>
            <a:ext cx="9144000" cy="2387600"/>
          </a:xfrm>
        </p:spPr>
        <p:txBody>
          <a:bodyPr anchor="b"/>
          <a:lstStyle>
            <a:lvl1pPr algn="ctr">
              <a:defRPr sz="6000"/>
            </a:lvl1pPr>
          </a:lstStyle>
          <a:p>
            <a:r>
              <a:rPr lang="zh-CN" altLang="en-US" smtClean="0"/>
              <a:t>单击此处编辑母版标题样式</a:t>
            </a:r>
            <a:endParaRPr lang="zh-CN" altLang="en-US"/>
          </a:p>
        </p:txBody>
      </p:sp>
      <p:sp>
        <p:nvSpPr>
          <p:cNvPr id="3" name="副标题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smtClean="0"/>
              <a:t>单击此处编辑母版副标题样式</a:t>
            </a:r>
            <a:endParaRPr lang="zh-CN" altLang="en-US"/>
          </a:p>
        </p:txBody>
      </p:sp>
      <p:sp>
        <p:nvSpPr>
          <p:cNvPr id="4" name="日期占位符 3"/>
          <p:cNvSpPr>
            <a:spLocks noGrp="1"/>
          </p:cNvSpPr>
          <p:nvPr>
            <p:ph type="dt" sz="half" idx="10"/>
          </p:nvPr>
        </p:nvSpPr>
        <p:spPr/>
        <p:txBody>
          <a:bodyPr/>
          <a:lstStyle/>
          <a:p>
            <a:fld id="{D997B5FA-0921-464F-AAE1-844C04324D75}"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565CE74E-AB26-4998-AD42-012C4C1AD076}" type="slidenum">
              <a:rPr lang="zh-CN" altLang="en-US" smtClean="0"/>
            </a:fld>
            <a:endParaRPr lang="zh-CN" alt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内容占位符 2"/>
          <p:cNvSpPr>
            <a:spLocks noGrp="1"/>
          </p:cNvSpPr>
          <p:nvPr>
            <p:ph idx="1"/>
          </p:nvPr>
        </p:nvSpPr>
        <p:spPr/>
        <p:txBody>
          <a:body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4" name="日期占位符 3"/>
          <p:cNvSpPr>
            <a:spLocks noGrp="1"/>
          </p:cNvSpPr>
          <p:nvPr>
            <p:ph type="dt" sz="half" idx="10"/>
          </p:nvPr>
        </p:nvSpPr>
        <p:spPr/>
        <p:txBody>
          <a:bodyPr/>
          <a:lstStyle/>
          <a:p>
            <a:fld id="{D997B5FA-0921-464F-AAE1-844C04324D75}"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565CE74E-AB26-4998-AD42-012C4C1AD076}" type="slidenum">
              <a:rPr lang="zh-CN" altLang="en-US" smtClean="0"/>
            </a:fld>
            <a:endParaRPr lang="zh-CN"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831850" y="1709738"/>
            <a:ext cx="10515600" cy="2852737"/>
          </a:xfrm>
        </p:spPr>
        <p:txBody>
          <a:bodyPr anchor="b"/>
          <a:lstStyle>
            <a:lvl1pPr>
              <a:defRPr sz="6000"/>
            </a:lvl1pPr>
          </a:lstStyle>
          <a:p>
            <a:r>
              <a:rPr lang="zh-CN" altLang="en-US" smtClean="0"/>
              <a:t>单击此处编辑母版标题样式</a:t>
            </a:r>
            <a:endParaRPr lang="zh-CN" altLang="en-US"/>
          </a:p>
        </p:txBody>
      </p:sp>
      <p:sp>
        <p:nvSpPr>
          <p:cNvPr id="3" name="文本占位符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smtClean="0"/>
              <a:t>单击此处编辑母版文本样式</a:t>
            </a:r>
            <a:endParaRPr lang="zh-CN" altLang="en-US" smtClean="0"/>
          </a:p>
        </p:txBody>
      </p:sp>
      <p:sp>
        <p:nvSpPr>
          <p:cNvPr id="4" name="日期占位符 3"/>
          <p:cNvSpPr>
            <a:spLocks noGrp="1"/>
          </p:cNvSpPr>
          <p:nvPr>
            <p:ph type="dt" sz="half" idx="10"/>
          </p:nvPr>
        </p:nvSpPr>
        <p:spPr/>
        <p:txBody>
          <a:bodyPr/>
          <a:lstStyle/>
          <a:p>
            <a:fld id="{D997B5FA-0921-464F-AAE1-844C04324D75}"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565CE74E-AB26-4998-AD42-012C4C1AD076}" type="slidenum">
              <a:rPr lang="zh-CN" altLang="en-US" smtClean="0"/>
            </a:fld>
            <a:endParaRPr lang="zh-CN"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内容占位符 2"/>
          <p:cNvSpPr>
            <a:spLocks noGrp="1"/>
          </p:cNvSpPr>
          <p:nvPr>
            <p:ph sz="half" idx="1"/>
          </p:nvPr>
        </p:nvSpPr>
        <p:spPr>
          <a:xfrm>
            <a:off x="838200" y="1825625"/>
            <a:ext cx="5181600" cy="4351338"/>
          </a:xfrm>
        </p:spPr>
        <p:txBody>
          <a:body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4" name="内容占位符 3"/>
          <p:cNvSpPr>
            <a:spLocks noGrp="1"/>
          </p:cNvSpPr>
          <p:nvPr>
            <p:ph sz="half" idx="2"/>
          </p:nvPr>
        </p:nvSpPr>
        <p:spPr>
          <a:xfrm>
            <a:off x="6172200" y="1825625"/>
            <a:ext cx="5181600" cy="4351338"/>
          </a:xfrm>
        </p:spPr>
        <p:txBody>
          <a:body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5" name="日期占位符 4"/>
          <p:cNvSpPr>
            <a:spLocks noGrp="1"/>
          </p:cNvSpPr>
          <p:nvPr>
            <p:ph type="dt" sz="half" idx="10"/>
          </p:nvPr>
        </p:nvSpPr>
        <p:spPr/>
        <p:txBody>
          <a:bodyPr/>
          <a:lstStyle/>
          <a:p>
            <a:fld id="{D997B5FA-0921-464F-AAE1-844C04324D75}" type="datetimeFigureOut">
              <a:rPr lang="zh-CN" altLang="en-US" smtClean="0"/>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565CE74E-AB26-4998-AD42-012C4C1AD076}" type="slidenum">
              <a:rPr lang="zh-CN" altLang="en-US" smtClean="0"/>
            </a:fld>
            <a:endParaRPr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839788" y="365125"/>
            <a:ext cx="10515600" cy="1325563"/>
          </a:xfrm>
        </p:spPr>
        <p:txBody>
          <a:bodyPr/>
          <a:lstStyle/>
          <a:p>
            <a:r>
              <a:rPr lang="zh-CN" altLang="en-US" smtClean="0"/>
              <a:t>单击此处编辑母版标题样式</a:t>
            </a:r>
            <a:endParaRPr lang="zh-CN" altLang="en-US"/>
          </a:p>
        </p:txBody>
      </p:sp>
      <p:sp>
        <p:nvSpPr>
          <p:cNvPr id="3" name="文本占位符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smtClean="0"/>
              <a:t>单击此处编辑母版文本样式</a:t>
            </a:r>
            <a:endParaRPr lang="zh-CN" altLang="en-US" smtClean="0"/>
          </a:p>
        </p:txBody>
      </p:sp>
      <p:sp>
        <p:nvSpPr>
          <p:cNvPr id="4" name="内容占位符 3"/>
          <p:cNvSpPr>
            <a:spLocks noGrp="1"/>
          </p:cNvSpPr>
          <p:nvPr>
            <p:ph sz="half" idx="2"/>
          </p:nvPr>
        </p:nvSpPr>
        <p:spPr>
          <a:xfrm>
            <a:off x="839788" y="2505075"/>
            <a:ext cx="5157787" cy="3684588"/>
          </a:xfrm>
        </p:spPr>
        <p:txBody>
          <a:body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5" name="文本占位符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smtClean="0"/>
              <a:t>单击此处编辑母版文本样式</a:t>
            </a:r>
            <a:endParaRPr lang="zh-CN" altLang="en-US" smtClean="0"/>
          </a:p>
        </p:txBody>
      </p:sp>
      <p:sp>
        <p:nvSpPr>
          <p:cNvPr id="6" name="内容占位符 5"/>
          <p:cNvSpPr>
            <a:spLocks noGrp="1"/>
          </p:cNvSpPr>
          <p:nvPr>
            <p:ph sz="quarter" idx="4"/>
          </p:nvPr>
        </p:nvSpPr>
        <p:spPr>
          <a:xfrm>
            <a:off x="6172200" y="2505075"/>
            <a:ext cx="5183188" cy="3684588"/>
          </a:xfrm>
        </p:spPr>
        <p:txBody>
          <a:body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7" name="日期占位符 6"/>
          <p:cNvSpPr>
            <a:spLocks noGrp="1"/>
          </p:cNvSpPr>
          <p:nvPr>
            <p:ph type="dt" sz="half" idx="10"/>
          </p:nvPr>
        </p:nvSpPr>
        <p:spPr/>
        <p:txBody>
          <a:bodyPr/>
          <a:lstStyle/>
          <a:p>
            <a:fld id="{D997B5FA-0921-464F-AAE1-844C04324D75}" type="datetimeFigureOut">
              <a:rPr lang="zh-CN" altLang="en-US" smtClean="0"/>
            </a:fld>
            <a:endParaRPr lang="zh-CN" altLang="en-US"/>
          </a:p>
        </p:txBody>
      </p:sp>
      <p:sp>
        <p:nvSpPr>
          <p:cNvPr id="8" name="页脚占位符 7"/>
          <p:cNvSpPr>
            <a:spLocks noGrp="1"/>
          </p:cNvSpPr>
          <p:nvPr>
            <p:ph type="ftr" sz="quarter" idx="11"/>
          </p:nvPr>
        </p:nvSpPr>
        <p:spPr/>
        <p:txBody>
          <a:bodyPr/>
          <a:lstStyle/>
          <a:p>
            <a:endParaRPr lang="zh-CN" altLang="en-US"/>
          </a:p>
        </p:txBody>
      </p:sp>
      <p:sp>
        <p:nvSpPr>
          <p:cNvPr id="9" name="灯片编号占位符 8"/>
          <p:cNvSpPr>
            <a:spLocks noGrp="1"/>
          </p:cNvSpPr>
          <p:nvPr>
            <p:ph type="sldNum" sz="quarter" idx="12"/>
          </p:nvPr>
        </p:nvSpPr>
        <p:spPr/>
        <p:txBody>
          <a:bodyPr/>
          <a:lstStyle/>
          <a:p>
            <a:fld id="{565CE74E-AB26-4998-AD42-012C4C1AD076}" type="slidenum">
              <a:rPr lang="zh-CN" altLang="en-US" smtClean="0"/>
            </a:fld>
            <a:endParaRPr lang="zh-CN" alt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日期占位符 2"/>
          <p:cNvSpPr>
            <a:spLocks noGrp="1"/>
          </p:cNvSpPr>
          <p:nvPr>
            <p:ph type="dt" sz="half" idx="10"/>
          </p:nvPr>
        </p:nvSpPr>
        <p:spPr/>
        <p:txBody>
          <a:bodyPr/>
          <a:lstStyle/>
          <a:p>
            <a:fld id="{D997B5FA-0921-464F-AAE1-844C04324D75}" type="datetimeFigureOut">
              <a:rPr lang="zh-CN" altLang="en-US" smtClean="0"/>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565CE74E-AB26-4998-AD42-012C4C1AD076}" type="slidenum">
              <a:rPr lang="zh-CN" altLang="en-US" smtClean="0"/>
            </a:fld>
            <a:endParaRPr lang="zh-CN"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D997B5FA-0921-464F-AAE1-844C04324D75}" type="datetimeFigureOut">
              <a:rPr lang="zh-CN" altLang="en-US" smtClean="0"/>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565CE74E-AB26-4998-AD42-012C4C1AD076}" type="slidenum">
              <a:rPr lang="zh-CN" altLang="en-US" smtClean="0"/>
            </a:fld>
            <a:endParaRPr lang="zh-CN"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839788" y="457200"/>
            <a:ext cx="3932237" cy="1600200"/>
          </a:xfrm>
        </p:spPr>
        <p:txBody>
          <a:bodyPr anchor="b"/>
          <a:lstStyle>
            <a:lvl1pPr>
              <a:defRPr sz="3200"/>
            </a:lvl1pPr>
          </a:lstStyle>
          <a:p>
            <a:r>
              <a:rPr lang="zh-CN" altLang="en-US" smtClean="0"/>
              <a:t>单击此处编辑母版标题样式</a:t>
            </a:r>
            <a:endParaRPr lang="zh-CN" altLang="en-US"/>
          </a:p>
        </p:txBody>
      </p:sp>
      <p:sp>
        <p:nvSpPr>
          <p:cNvPr id="3" name="内容占位符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4" name="文本占位符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smtClean="0"/>
              <a:t>单击此处编辑母版文本样式</a:t>
            </a:r>
            <a:endParaRPr lang="zh-CN" altLang="en-US" smtClean="0"/>
          </a:p>
        </p:txBody>
      </p:sp>
      <p:sp>
        <p:nvSpPr>
          <p:cNvPr id="5" name="日期占位符 4"/>
          <p:cNvSpPr>
            <a:spLocks noGrp="1"/>
          </p:cNvSpPr>
          <p:nvPr>
            <p:ph type="dt" sz="half" idx="10"/>
          </p:nvPr>
        </p:nvSpPr>
        <p:spPr/>
        <p:txBody>
          <a:bodyPr/>
          <a:lstStyle/>
          <a:p>
            <a:fld id="{D997B5FA-0921-464F-AAE1-844C04324D75}" type="datetimeFigureOut">
              <a:rPr lang="zh-CN" altLang="en-US" smtClean="0"/>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565CE74E-AB26-4998-AD42-012C4C1AD076}" type="slidenum">
              <a:rPr lang="zh-CN" altLang="en-US" smtClean="0"/>
            </a:fld>
            <a:endParaRPr lang="zh-CN" alt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839788" y="457200"/>
            <a:ext cx="3932237" cy="1600200"/>
          </a:xfrm>
        </p:spPr>
        <p:txBody>
          <a:bodyPr anchor="b"/>
          <a:lstStyle>
            <a:lvl1pPr>
              <a:defRPr sz="3200"/>
            </a:lvl1pPr>
          </a:lstStyle>
          <a:p>
            <a:r>
              <a:rPr lang="zh-CN" altLang="en-US" smtClean="0"/>
              <a:t>单击此处编辑母版标题样式</a:t>
            </a:r>
            <a:endParaRPr lang="zh-CN" altLang="en-US"/>
          </a:p>
        </p:txBody>
      </p:sp>
      <p:sp>
        <p:nvSpPr>
          <p:cNvPr id="3" name="图片占位符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文本占位符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smtClean="0"/>
              <a:t>单击此处编辑母版文本样式</a:t>
            </a:r>
            <a:endParaRPr lang="zh-CN" altLang="en-US" smtClean="0"/>
          </a:p>
        </p:txBody>
      </p:sp>
      <p:sp>
        <p:nvSpPr>
          <p:cNvPr id="5" name="日期占位符 4"/>
          <p:cNvSpPr>
            <a:spLocks noGrp="1"/>
          </p:cNvSpPr>
          <p:nvPr>
            <p:ph type="dt" sz="half" idx="10"/>
          </p:nvPr>
        </p:nvSpPr>
        <p:spPr/>
        <p:txBody>
          <a:bodyPr/>
          <a:lstStyle/>
          <a:p>
            <a:fld id="{D997B5FA-0921-464F-AAE1-844C04324D75}" type="datetimeFigureOut">
              <a:rPr lang="zh-CN" altLang="en-US" smtClean="0"/>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565CE74E-AB26-4998-AD42-012C4C1AD076}" type="slidenum">
              <a:rPr lang="zh-CN" altLang="en-US" smtClean="0"/>
            </a:fld>
            <a:endParaRPr lang="zh-CN" alt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竖排文字占位符 2"/>
          <p:cNvSpPr>
            <a:spLocks noGrp="1"/>
          </p:cNvSpPr>
          <p:nvPr>
            <p:ph type="body" orient="vert" idx="1"/>
          </p:nvPr>
        </p:nvSpPr>
        <p:spPr/>
        <p:txBody>
          <a:bodyPr vert="eaVert"/>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4" name="日期占位符 3"/>
          <p:cNvSpPr>
            <a:spLocks noGrp="1"/>
          </p:cNvSpPr>
          <p:nvPr>
            <p:ph type="dt" sz="half" idx="10"/>
          </p:nvPr>
        </p:nvSpPr>
        <p:spPr/>
        <p:txBody>
          <a:bodyPr/>
          <a:lstStyle/>
          <a:p>
            <a:fld id="{D997B5FA-0921-464F-AAE1-844C04324D75}"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565CE74E-AB26-4998-AD42-012C4C1AD076}" type="slidenum">
              <a:rPr lang="zh-CN" altLang="en-US" smtClean="0"/>
            </a:fld>
            <a:endParaRPr lang="zh-CN" alt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垂直排列标题与&#10;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8724900" y="365125"/>
            <a:ext cx="2628900" cy="5811838"/>
          </a:xfrm>
        </p:spPr>
        <p:txBody>
          <a:bodyPr vert="eaVert"/>
          <a:lstStyle/>
          <a:p>
            <a:r>
              <a:rPr lang="zh-CN" altLang="en-US" smtClean="0"/>
              <a:t>单击此处编辑母版标题样式</a:t>
            </a:r>
            <a:endParaRPr lang="zh-CN" altLang="en-US"/>
          </a:p>
        </p:txBody>
      </p:sp>
      <p:sp>
        <p:nvSpPr>
          <p:cNvPr id="3" name="竖排文字占位符 2"/>
          <p:cNvSpPr>
            <a:spLocks noGrp="1"/>
          </p:cNvSpPr>
          <p:nvPr>
            <p:ph type="body" orient="vert" idx="1"/>
          </p:nvPr>
        </p:nvSpPr>
        <p:spPr>
          <a:xfrm>
            <a:off x="838200" y="365125"/>
            <a:ext cx="7734300" cy="5811838"/>
          </a:xfrm>
        </p:spPr>
        <p:txBody>
          <a:bodyPr vert="eaVert"/>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4" name="日期占位符 3"/>
          <p:cNvSpPr>
            <a:spLocks noGrp="1"/>
          </p:cNvSpPr>
          <p:nvPr>
            <p:ph type="dt" sz="half" idx="10"/>
          </p:nvPr>
        </p:nvSpPr>
        <p:spPr/>
        <p:txBody>
          <a:bodyPr/>
          <a:lstStyle/>
          <a:p>
            <a:fld id="{D997B5FA-0921-464F-AAE1-844C04324D75}"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565CE74E-AB26-4998-AD42-012C4C1AD076}" type="slidenum">
              <a:rPr lang="zh-CN" altLang="en-US" smtClean="0"/>
            </a:fld>
            <a:endParaRPr lang="zh-CN" altLang="en-US"/>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2" Type="http://schemas.openxmlformats.org/officeDocument/2006/relationships/theme" Target="../theme/theme1.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smtClean="0"/>
              <a:t>单击此处编辑母版标题样式</a:t>
            </a:r>
            <a:endParaRPr lang="zh-CN" altLang="en-US"/>
          </a:p>
        </p:txBody>
      </p:sp>
      <p:sp>
        <p:nvSpPr>
          <p:cNvPr id="3" name="文本占位符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4"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D997B5FA-0921-464F-AAE1-844C04324D75}" type="datetimeFigureOut">
              <a:rPr lang="zh-CN" altLang="en-US" smtClean="0"/>
            </a:fld>
            <a:endParaRPr lang="zh-CN" altLang="en-US"/>
          </a:p>
        </p:txBody>
      </p:sp>
      <p:sp>
        <p:nvSpPr>
          <p:cNvPr id="5" name="页脚占位符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CN" altLang="en-US"/>
          </a:p>
        </p:txBody>
      </p:sp>
      <p:sp>
        <p:nvSpPr>
          <p:cNvPr id="6"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65CE74E-AB26-4998-AD42-012C4C1AD076}" type="slidenum">
              <a:rPr lang="zh-CN" altLang="en-US" smtClean="0"/>
            </a:fld>
            <a:endParaRPr lang="zh-CN"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1.png"/></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3.png"/><Relationship Id="rId1" Type="http://schemas.openxmlformats.org/officeDocument/2006/relationships/image" Target="../media/image2.png"/></Relationships>
</file>

<file path=ppt/slides/_rels/slide3.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5.png"/></Relationships>
</file>

<file path=ppt/slides/_rels/slide6.xml.rels><?xml version="1.0" encoding="UTF-8" standalone="yes"?>
<Relationships xmlns="http://schemas.openxmlformats.org/package/2006/relationships"><Relationship Id="rId6" Type="http://schemas.openxmlformats.org/officeDocument/2006/relationships/slideLayout" Target="../slideLayouts/slideLayout2.xml"/><Relationship Id="rId5" Type="http://schemas.openxmlformats.org/officeDocument/2006/relationships/image" Target="../media/image10.png"/><Relationship Id="rId4" Type="http://schemas.openxmlformats.org/officeDocument/2006/relationships/image" Target="../media/image9.png"/><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image" Target="../media/image6.png"/></Relationships>
</file>

<file path=ppt/slides/_rels/slide7.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11.png"/></Relationships>
</file>

<file path=ppt/slides/_rels/slide8.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1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4" name="图片 3"/>
          <p:cNvPicPr>
            <a:picLocks noChangeAspect="1"/>
          </p:cNvPicPr>
          <p:nvPr/>
        </p:nvPicPr>
        <p:blipFill>
          <a:blip r:embed="rId1"/>
          <a:stretch>
            <a:fillRect/>
          </a:stretch>
        </p:blipFill>
        <p:spPr>
          <a:xfrm>
            <a:off x="3225165" y="829310"/>
            <a:ext cx="6515100" cy="3067050"/>
          </a:xfrm>
          <a:prstGeom prst="rect">
            <a:avLst/>
          </a:prstGeom>
        </p:spPr>
      </p:pic>
      <p:sp>
        <p:nvSpPr>
          <p:cNvPr id="6" name="文本框 5"/>
          <p:cNvSpPr txBox="1"/>
          <p:nvPr/>
        </p:nvSpPr>
        <p:spPr>
          <a:xfrm>
            <a:off x="1169035" y="3896360"/>
            <a:ext cx="8663305" cy="922020"/>
          </a:xfrm>
          <a:prstGeom prst="rect">
            <a:avLst/>
          </a:prstGeom>
          <a:noFill/>
        </p:spPr>
        <p:txBody>
          <a:bodyPr wrap="square" rtlCol="0">
            <a:spAutoFit/>
          </a:bodyPr>
          <a:p>
            <a:r>
              <a:rPr lang="zh-CN" altLang="en-US"/>
              <a:t>这篇文章讲述了世界模型的一个定义，说明世界模型更像是人脑一样：将外部的复杂的感觉信息压缩到一个更加低维的时空表征，利用这个更加低维的时空表征与前一个时刻或者之前的记忆和当前的动作信息来预测下一个时刻或者说未来的时空</a:t>
            </a:r>
            <a:r>
              <a:rPr lang="zh-CN" altLang="en-US"/>
              <a:t>表征。</a:t>
            </a:r>
            <a:endParaRPr lang="zh-CN" altLang="en-US"/>
          </a:p>
        </p:txBody>
      </p:sp>
      <p:sp>
        <p:nvSpPr>
          <p:cNvPr id="7" name="文本框 6"/>
          <p:cNvSpPr txBox="1"/>
          <p:nvPr/>
        </p:nvSpPr>
        <p:spPr>
          <a:xfrm>
            <a:off x="1254760" y="4921250"/>
            <a:ext cx="8911590" cy="645160"/>
          </a:xfrm>
          <a:prstGeom prst="rect">
            <a:avLst/>
          </a:prstGeom>
          <a:noFill/>
        </p:spPr>
        <p:txBody>
          <a:bodyPr wrap="square" rtlCol="0">
            <a:spAutoFit/>
          </a:bodyPr>
          <a:p>
            <a:r>
              <a:rPr lang="zh-CN" altLang="en-US">
                <a:solidFill>
                  <a:srgbClr val="FF0000"/>
                </a:solidFill>
              </a:rPr>
              <a:t>把复杂的外部感觉输入压缩成低维 </a:t>
            </a:r>
            <a:r>
              <a:rPr lang="en-US" altLang="zh-CN">
                <a:solidFill>
                  <a:srgbClr val="FF0000"/>
                </a:solidFill>
              </a:rPr>
              <a:t>latent </a:t>
            </a:r>
            <a:r>
              <a:rPr lang="zh-CN" altLang="en-US">
                <a:solidFill>
                  <a:srgbClr val="FF0000"/>
                </a:solidFill>
              </a:rPr>
              <a:t>表征，并在这个低维空间中学习动作条件下的时间动态，从而让智能体能够基于内部世界模型预测未来和做决策。</a:t>
            </a:r>
            <a:endParaRPr lang="zh-CN" altLang="en-US">
              <a:solidFill>
                <a:srgbClr val="FF0000"/>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4" name="图片 3"/>
          <p:cNvPicPr>
            <a:picLocks noChangeAspect="1"/>
          </p:cNvPicPr>
          <p:nvPr/>
        </p:nvPicPr>
        <p:blipFill>
          <a:blip r:embed="rId1"/>
          <a:stretch>
            <a:fillRect/>
          </a:stretch>
        </p:blipFill>
        <p:spPr>
          <a:xfrm>
            <a:off x="512445" y="116840"/>
            <a:ext cx="5584190" cy="4020820"/>
          </a:xfrm>
          <a:prstGeom prst="rect">
            <a:avLst/>
          </a:prstGeom>
        </p:spPr>
      </p:pic>
      <p:sp>
        <p:nvSpPr>
          <p:cNvPr id="5" name="文本框 4"/>
          <p:cNvSpPr txBox="1"/>
          <p:nvPr/>
        </p:nvSpPr>
        <p:spPr>
          <a:xfrm>
            <a:off x="6744335" y="116840"/>
            <a:ext cx="4064000" cy="368300"/>
          </a:xfrm>
          <a:prstGeom prst="rect">
            <a:avLst/>
          </a:prstGeom>
          <a:noFill/>
        </p:spPr>
        <p:txBody>
          <a:bodyPr wrap="square" rtlCol="0">
            <a:spAutoFit/>
          </a:bodyPr>
          <a:p>
            <a:r>
              <a:rPr lang="zh-CN" altLang="en-US"/>
              <a:t>文章提出了</a:t>
            </a:r>
            <a:r>
              <a:rPr lang="en-US" altLang="zh-CN"/>
              <a:t>V+M+C</a:t>
            </a:r>
            <a:r>
              <a:rPr lang="zh-CN" altLang="en-US"/>
              <a:t>框架</a:t>
            </a:r>
            <a:endParaRPr lang="en-US" altLang="zh-CN"/>
          </a:p>
        </p:txBody>
      </p:sp>
      <p:pic>
        <p:nvPicPr>
          <p:cNvPr id="6" name="图片 5"/>
          <p:cNvPicPr>
            <a:picLocks noChangeAspect="1"/>
          </p:cNvPicPr>
          <p:nvPr/>
        </p:nvPicPr>
        <p:blipFill>
          <a:blip r:embed="rId2"/>
          <a:stretch>
            <a:fillRect/>
          </a:stretch>
        </p:blipFill>
        <p:spPr>
          <a:xfrm>
            <a:off x="6441440" y="3272155"/>
            <a:ext cx="4513580" cy="3381375"/>
          </a:xfrm>
          <a:prstGeom prst="rect">
            <a:avLst/>
          </a:prstGeom>
        </p:spPr>
      </p:pic>
      <p:sp>
        <p:nvSpPr>
          <p:cNvPr id="8" name="文本框 7"/>
          <p:cNvSpPr txBox="1"/>
          <p:nvPr/>
        </p:nvSpPr>
        <p:spPr>
          <a:xfrm>
            <a:off x="6096635" y="485140"/>
            <a:ext cx="5701665" cy="2030095"/>
          </a:xfrm>
          <a:prstGeom prst="rect">
            <a:avLst/>
          </a:prstGeom>
          <a:noFill/>
        </p:spPr>
        <p:txBody>
          <a:bodyPr wrap="square" rtlCol="0">
            <a:spAutoFit/>
          </a:bodyPr>
          <a:p>
            <a:r>
              <a:rPr lang="zh-CN" altLang="en-US"/>
              <a:t>其中</a:t>
            </a:r>
            <a:r>
              <a:rPr lang="en-US" altLang="zh-CN"/>
              <a:t>V</a:t>
            </a:r>
            <a:r>
              <a:rPr lang="zh-CN" altLang="en-US"/>
              <a:t>和</a:t>
            </a:r>
            <a:r>
              <a:rPr lang="en-US" altLang="zh-CN"/>
              <a:t>M</a:t>
            </a:r>
            <a:r>
              <a:rPr lang="zh-CN" altLang="en-US"/>
              <a:t>共同组成了文章中提出了</a:t>
            </a:r>
            <a:r>
              <a:rPr lang="en-US" altLang="zh-CN"/>
              <a:t>World model</a:t>
            </a:r>
            <a:r>
              <a:rPr lang="zh-CN" altLang="en-US"/>
              <a:t>的</a:t>
            </a:r>
            <a:r>
              <a:rPr lang="zh-CN" altLang="en-US"/>
              <a:t>概念。</a:t>
            </a:r>
            <a:endParaRPr lang="zh-CN" altLang="en-US"/>
          </a:p>
          <a:p>
            <a:pPr marL="285750" indent="-285750">
              <a:buFont typeface="Arial" panose="020B0604020202020204" pitchFamily="34" charset="0"/>
              <a:buChar char="•"/>
            </a:pPr>
            <a:r>
              <a:rPr lang="en-US" altLang="zh-CN"/>
              <a:t>V</a:t>
            </a:r>
            <a:r>
              <a:rPr lang="zh-CN" altLang="en-US"/>
              <a:t>模型负责将外部的感觉输入压缩到</a:t>
            </a:r>
            <a:r>
              <a:rPr lang="en-US" altLang="zh-CN"/>
              <a:t>latent</a:t>
            </a:r>
            <a:r>
              <a:rPr lang="zh-CN" altLang="en-US"/>
              <a:t>表征。</a:t>
            </a:r>
            <a:endParaRPr lang="zh-CN" altLang="en-US"/>
          </a:p>
          <a:p>
            <a:pPr marL="285750" indent="-285750">
              <a:buFont typeface="Arial" panose="020B0604020202020204" pitchFamily="34" charset="0"/>
              <a:buChar char="•"/>
            </a:pPr>
            <a:r>
              <a:rPr lang="en-US" altLang="zh-CN"/>
              <a:t>M</a:t>
            </a:r>
            <a:r>
              <a:rPr lang="zh-CN" altLang="en-US"/>
              <a:t>是一个</a:t>
            </a:r>
            <a:r>
              <a:rPr lang="zh-CN" altLang="en-US">
                <a:solidFill>
                  <a:schemeClr val="tx1"/>
                </a:solidFill>
              </a:rPr>
              <a:t>具有记忆的未来预测器，</a:t>
            </a:r>
            <a:r>
              <a:rPr lang="en-US" altLang="zh-CN">
                <a:solidFill>
                  <a:schemeClr val="tx1"/>
                </a:solidFill>
              </a:rPr>
              <a:t>M</a:t>
            </a:r>
            <a:r>
              <a:rPr lang="zh-CN" altLang="en-US">
                <a:solidFill>
                  <a:schemeClr val="tx1"/>
                </a:solidFill>
              </a:rPr>
              <a:t>获取</a:t>
            </a:r>
            <a:r>
              <a:rPr lang="zh-CN" altLang="en-US">
                <a:solidFill>
                  <a:srgbClr val="FF0000"/>
                </a:solidFill>
              </a:rPr>
              <a:t>当前时刻</a:t>
            </a:r>
            <a:r>
              <a:rPr lang="en-US" altLang="zh-CN">
                <a:solidFill>
                  <a:srgbClr val="FF0000"/>
                </a:solidFill>
              </a:rPr>
              <a:t>V</a:t>
            </a:r>
            <a:r>
              <a:rPr lang="zh-CN" altLang="en-US">
                <a:solidFill>
                  <a:srgbClr val="FF0000"/>
                </a:solidFill>
              </a:rPr>
              <a:t>所压缩到的外部世界感觉</a:t>
            </a:r>
            <a:r>
              <a:rPr lang="en-US" altLang="zh-CN">
                <a:solidFill>
                  <a:srgbClr val="FF0000"/>
                </a:solidFill>
              </a:rPr>
              <a:t>(zt)</a:t>
            </a:r>
            <a:r>
              <a:rPr lang="zh-CN" altLang="en-US">
                <a:solidFill>
                  <a:schemeClr val="tx1"/>
                </a:solidFill>
              </a:rPr>
              <a:t>、</a:t>
            </a:r>
            <a:r>
              <a:rPr lang="en-US" altLang="zh-CN">
                <a:solidFill>
                  <a:srgbClr val="FF0000"/>
                </a:solidFill>
              </a:rPr>
              <a:t>M</a:t>
            </a:r>
            <a:r>
              <a:rPr lang="zh-CN" altLang="en-US">
                <a:solidFill>
                  <a:srgbClr val="FF0000"/>
                </a:solidFill>
              </a:rPr>
              <a:t>之前时刻</a:t>
            </a:r>
            <a:r>
              <a:rPr lang="en-US" altLang="zh-CN">
                <a:solidFill>
                  <a:srgbClr val="FF0000"/>
                </a:solidFill>
              </a:rPr>
              <a:t>(t-1)</a:t>
            </a:r>
            <a:r>
              <a:rPr lang="zh-CN" altLang="en-US">
                <a:solidFill>
                  <a:srgbClr val="FF0000"/>
                </a:solidFill>
              </a:rPr>
              <a:t>的内部记忆</a:t>
            </a:r>
            <a:r>
              <a:rPr lang="en-US" altLang="zh-CN">
                <a:solidFill>
                  <a:srgbClr val="FF0000"/>
                </a:solidFill>
              </a:rPr>
              <a:t>(ht)</a:t>
            </a:r>
            <a:r>
              <a:rPr lang="zh-CN" altLang="en-US">
                <a:solidFill>
                  <a:schemeClr val="tx1"/>
                </a:solidFill>
              </a:rPr>
              <a:t>与</a:t>
            </a:r>
            <a:r>
              <a:rPr lang="zh-CN" altLang="en-US">
                <a:solidFill>
                  <a:srgbClr val="FF0000"/>
                </a:solidFill>
              </a:rPr>
              <a:t>当前时刻</a:t>
            </a:r>
            <a:r>
              <a:rPr lang="en-US" altLang="zh-CN">
                <a:solidFill>
                  <a:srgbClr val="FF0000"/>
                </a:solidFill>
              </a:rPr>
              <a:t>C</a:t>
            </a:r>
            <a:r>
              <a:rPr lang="zh-CN" altLang="en-US">
                <a:solidFill>
                  <a:srgbClr val="FF0000"/>
                </a:solidFill>
              </a:rPr>
              <a:t>所产生的动作</a:t>
            </a:r>
            <a:r>
              <a:rPr lang="en-US" altLang="zh-CN">
                <a:solidFill>
                  <a:srgbClr val="FF0000"/>
                </a:solidFill>
              </a:rPr>
              <a:t>(at)</a:t>
            </a:r>
            <a:r>
              <a:rPr lang="zh-CN" altLang="en-US">
                <a:solidFill>
                  <a:schemeClr val="tx1"/>
                </a:solidFill>
              </a:rPr>
              <a:t>来对</a:t>
            </a:r>
            <a:r>
              <a:rPr lang="zh-CN" altLang="en-US">
                <a:solidFill>
                  <a:srgbClr val="FF0000"/>
                </a:solidFill>
              </a:rPr>
              <a:t>下一时刻的</a:t>
            </a:r>
            <a:r>
              <a:rPr lang="en-US" altLang="zh-CN">
                <a:solidFill>
                  <a:srgbClr val="FF0000"/>
                </a:solidFill>
              </a:rPr>
              <a:t>latent</a:t>
            </a:r>
            <a:r>
              <a:rPr lang="zh-CN" altLang="en-US">
                <a:solidFill>
                  <a:srgbClr val="FF0000"/>
                </a:solidFill>
              </a:rPr>
              <a:t>信息进行预测</a:t>
            </a:r>
            <a:r>
              <a:rPr lang="en-US" altLang="zh-CN">
                <a:solidFill>
                  <a:srgbClr val="FF0000"/>
                </a:solidFill>
              </a:rPr>
              <a:t>(zt+1)</a:t>
            </a:r>
            <a:endParaRPr lang="en-US" altLang="zh-CN">
              <a:solidFill>
                <a:srgbClr val="FF0000"/>
              </a:solidFill>
            </a:endParaRPr>
          </a:p>
          <a:p>
            <a:pPr marL="285750" indent="-285750">
              <a:buFont typeface="Arial" panose="020B0604020202020204" pitchFamily="34" charset="0"/>
              <a:buChar char="•"/>
            </a:pPr>
            <a:r>
              <a:rPr lang="en-US" altLang="zh-CN">
                <a:solidFill>
                  <a:schemeClr val="tx1"/>
                </a:solidFill>
              </a:rPr>
              <a:t>C</a:t>
            </a:r>
            <a:r>
              <a:rPr lang="zh-CN" altLang="en-US">
                <a:solidFill>
                  <a:schemeClr val="tx1"/>
                </a:solidFill>
              </a:rPr>
              <a:t>是一个控制器，用来根据</a:t>
            </a:r>
            <a:r>
              <a:rPr lang="en-US" altLang="zh-CN">
                <a:solidFill>
                  <a:schemeClr val="tx1"/>
                </a:solidFill>
              </a:rPr>
              <a:t>h</a:t>
            </a:r>
            <a:r>
              <a:rPr lang="zh-CN" altLang="en-US">
                <a:solidFill>
                  <a:schemeClr val="tx1"/>
                </a:solidFill>
              </a:rPr>
              <a:t>和</a:t>
            </a:r>
            <a:r>
              <a:rPr lang="en-US" altLang="zh-CN">
                <a:solidFill>
                  <a:schemeClr val="tx1"/>
                </a:solidFill>
              </a:rPr>
              <a:t>z</a:t>
            </a:r>
            <a:r>
              <a:rPr lang="zh-CN" altLang="en-US">
                <a:solidFill>
                  <a:schemeClr val="tx1"/>
                </a:solidFill>
              </a:rPr>
              <a:t>产生影响环境的</a:t>
            </a:r>
            <a:r>
              <a:rPr lang="zh-CN" altLang="en-US">
                <a:solidFill>
                  <a:schemeClr val="tx1"/>
                </a:solidFill>
              </a:rPr>
              <a:t>动作</a:t>
            </a:r>
            <a:endParaRPr lang="zh-CN" altLang="en-US">
              <a:solidFill>
                <a:schemeClr val="tx1"/>
              </a:solidFill>
            </a:endParaRPr>
          </a:p>
        </p:txBody>
      </p:sp>
      <p:sp>
        <p:nvSpPr>
          <p:cNvPr id="10" name="文本框 9"/>
          <p:cNvSpPr txBox="1"/>
          <p:nvPr/>
        </p:nvSpPr>
        <p:spPr>
          <a:xfrm>
            <a:off x="604520" y="4410075"/>
            <a:ext cx="5491480" cy="1198880"/>
          </a:xfrm>
          <a:prstGeom prst="rect">
            <a:avLst/>
          </a:prstGeom>
          <a:noFill/>
        </p:spPr>
        <p:txBody>
          <a:bodyPr wrap="square" rtlCol="0">
            <a:spAutoFit/>
          </a:bodyPr>
          <a:p>
            <a:r>
              <a:rPr lang="zh-CN" altLang="en-US"/>
              <a:t>这篇文章认为，世界模型由视觉压缩模型和记忆预测模型组成。它先把高维观测压缩成低维 </a:t>
            </a:r>
            <a:r>
              <a:rPr lang="en-US" altLang="zh-CN"/>
              <a:t>latent state zt​</a:t>
            </a:r>
            <a:r>
              <a:rPr lang="zh-CN" altLang="en-US"/>
              <a:t>，再结合当前动作 </a:t>
            </a:r>
            <a:r>
              <a:rPr lang="en-US" altLang="zh-CN"/>
              <a:t>at</a:t>
            </a:r>
            <a:r>
              <a:rPr lang="zh-CN" altLang="en-US"/>
              <a:t>和 </a:t>
            </a:r>
            <a:r>
              <a:rPr lang="en-US" altLang="zh-CN"/>
              <a:t>RNN </a:t>
            </a:r>
            <a:r>
              <a:rPr lang="zh-CN" altLang="en-US"/>
              <a:t>隐藏记忆 </a:t>
            </a:r>
            <a:r>
              <a:rPr lang="en-US" altLang="zh-CN"/>
              <a:t>ht</a:t>
            </a:r>
            <a:r>
              <a:rPr lang="zh-CN" altLang="en-US"/>
              <a:t>，预测下一时刻 </a:t>
            </a:r>
            <a:r>
              <a:rPr lang="en-US" altLang="zh-CN"/>
              <a:t>latent state zt+1</a:t>
            </a:r>
            <a:r>
              <a:rPr lang="zh-CN" altLang="en-US"/>
              <a:t>的</a:t>
            </a:r>
            <a:r>
              <a:rPr lang="zh-CN" altLang="en-US">
                <a:solidFill>
                  <a:schemeClr val="accent6"/>
                </a:solidFill>
              </a:rPr>
              <a:t>条件概率分布</a:t>
            </a:r>
            <a:r>
              <a:rPr lang="zh-CN" altLang="en-US"/>
              <a:t>。</a:t>
            </a:r>
            <a:endParaRPr lang="zh-CN" alt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文本框 1"/>
          <p:cNvSpPr txBox="1"/>
          <p:nvPr/>
        </p:nvSpPr>
        <p:spPr>
          <a:xfrm>
            <a:off x="276225" y="299720"/>
            <a:ext cx="4758055" cy="922020"/>
          </a:xfrm>
          <a:prstGeom prst="rect">
            <a:avLst/>
          </a:prstGeom>
          <a:noFill/>
        </p:spPr>
        <p:txBody>
          <a:bodyPr wrap="square" rtlCol="0">
            <a:spAutoFit/>
          </a:bodyPr>
          <a:p>
            <a:r>
              <a:rPr lang="zh-CN" altLang="en-US"/>
              <a:t>未来的 </a:t>
            </a:r>
            <a:r>
              <a:rPr lang="en-US" altLang="zh-CN"/>
              <a:t>latent state zt+1</a:t>
            </a:r>
            <a:r>
              <a:rPr lang="zh-CN" altLang="en-US"/>
              <a:t>是一个不确定的随机变量，世界模型用一个条件概率分布来描述它可能出现的位置。</a:t>
            </a:r>
            <a:endParaRPr lang="zh-CN" altLang="en-US"/>
          </a:p>
        </p:txBody>
      </p:sp>
      <p:pic>
        <p:nvPicPr>
          <p:cNvPr id="3" name="图片 2"/>
          <p:cNvPicPr>
            <a:picLocks noChangeAspect="1"/>
          </p:cNvPicPr>
          <p:nvPr/>
        </p:nvPicPr>
        <p:blipFill>
          <a:blip r:embed="rId1"/>
          <a:stretch>
            <a:fillRect/>
          </a:stretch>
        </p:blipFill>
        <p:spPr>
          <a:xfrm>
            <a:off x="4608830" y="1820545"/>
            <a:ext cx="2324100" cy="523875"/>
          </a:xfrm>
          <a:prstGeom prst="rect">
            <a:avLst/>
          </a:prstGeom>
        </p:spPr>
      </p:pic>
      <p:sp>
        <p:nvSpPr>
          <p:cNvPr id="4" name="文本框 3"/>
          <p:cNvSpPr txBox="1"/>
          <p:nvPr/>
        </p:nvSpPr>
        <p:spPr>
          <a:xfrm>
            <a:off x="1807210" y="2773045"/>
            <a:ext cx="7550150" cy="1198880"/>
          </a:xfrm>
          <a:prstGeom prst="rect">
            <a:avLst/>
          </a:prstGeom>
          <a:noFill/>
        </p:spPr>
        <p:txBody>
          <a:bodyPr wrap="square" rtlCol="0">
            <a:spAutoFit/>
          </a:bodyPr>
          <a:p>
            <a:r>
              <a:rPr lang="zh-CN" altLang="en-US"/>
              <a:t>这些未来不是围绕一个单一平均值的小波动，而是有多个可能模式。所以文章使用 </a:t>
            </a:r>
            <a:r>
              <a:rPr lang="en-US" altLang="zh-CN">
                <a:solidFill>
                  <a:schemeClr val="accent6"/>
                </a:solidFill>
              </a:rPr>
              <a:t>Mixture of Gaussian distribution，</a:t>
            </a:r>
            <a:r>
              <a:rPr lang="zh-CN" altLang="en-US">
                <a:solidFill>
                  <a:schemeClr val="accent6"/>
                </a:solidFill>
              </a:rPr>
              <a:t>也就是高斯混合分布</a:t>
            </a:r>
            <a:r>
              <a:rPr lang="zh-CN" altLang="en-US"/>
              <a:t>。作者也提到，混合模型中的离散 </a:t>
            </a:r>
            <a:r>
              <a:rPr lang="en-US" altLang="zh-CN"/>
              <a:t>mode </a:t>
            </a:r>
            <a:r>
              <a:rPr lang="zh-CN" altLang="en-US"/>
              <a:t>对建模随机离散事件很有用，比如怪物是否发射火球。</a:t>
            </a:r>
            <a:endParaRPr lang="zh-CN" altLang="en-US"/>
          </a:p>
        </p:txBody>
      </p:sp>
      <p:sp>
        <p:nvSpPr>
          <p:cNvPr id="5" name="文本框 4"/>
          <p:cNvSpPr txBox="1"/>
          <p:nvPr/>
        </p:nvSpPr>
        <p:spPr>
          <a:xfrm>
            <a:off x="1219200" y="4836795"/>
            <a:ext cx="8925560" cy="922020"/>
          </a:xfrm>
          <a:prstGeom prst="rect">
            <a:avLst/>
          </a:prstGeom>
          <a:noFill/>
        </p:spPr>
        <p:txBody>
          <a:bodyPr wrap="square" rtlCol="0">
            <a:spAutoFit/>
          </a:bodyPr>
          <a:p>
            <a:r>
              <a:rPr lang="zh-CN" altLang="en-US"/>
              <a:t>世界模型不是直接预测一个唯一的未来 </a:t>
            </a:r>
            <a:r>
              <a:rPr lang="en-US" altLang="zh-CN"/>
              <a:t>latent state，</a:t>
            </a:r>
            <a:r>
              <a:rPr lang="zh-CN" altLang="en-US"/>
              <a:t>而是根据当前状态、当前动作和历史记忆，估计下一时刻 </a:t>
            </a:r>
            <a:r>
              <a:rPr lang="en-US" altLang="zh-CN"/>
              <a:t>latent state </a:t>
            </a:r>
            <a:r>
              <a:rPr lang="zh-CN" altLang="en-US"/>
              <a:t>的条件概率分布。这样做是因为未来具有不确定性和多种可能模式，概率分布可以比单一预测值更好地描述这些可能性。</a:t>
            </a:r>
            <a:endParaRPr lang="zh-CN" alt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文本框 1"/>
          <p:cNvSpPr txBox="1"/>
          <p:nvPr/>
        </p:nvSpPr>
        <p:spPr>
          <a:xfrm>
            <a:off x="184150" y="213360"/>
            <a:ext cx="6609080" cy="368300"/>
          </a:xfrm>
          <a:prstGeom prst="rect">
            <a:avLst/>
          </a:prstGeom>
          <a:noFill/>
        </p:spPr>
        <p:txBody>
          <a:bodyPr wrap="square" rtlCol="0">
            <a:spAutoFit/>
          </a:bodyPr>
          <a:p>
            <a:r>
              <a:rPr lang="zh-CN" altLang="en-US"/>
              <a:t>世界模型本身不需要 </a:t>
            </a:r>
            <a:r>
              <a:rPr lang="en-US" altLang="zh-CN"/>
              <a:t>reward</a:t>
            </a:r>
            <a:endParaRPr lang="en-US" altLang="zh-CN"/>
          </a:p>
        </p:txBody>
      </p:sp>
      <p:sp>
        <p:nvSpPr>
          <p:cNvPr id="3" name="文本框 2"/>
          <p:cNvSpPr txBox="1"/>
          <p:nvPr/>
        </p:nvSpPr>
        <p:spPr>
          <a:xfrm>
            <a:off x="857250" y="667385"/>
            <a:ext cx="11002645" cy="645160"/>
          </a:xfrm>
          <a:prstGeom prst="rect">
            <a:avLst/>
          </a:prstGeom>
          <a:noFill/>
        </p:spPr>
        <p:txBody>
          <a:bodyPr wrap="square" rtlCol="0">
            <a:spAutoFit/>
          </a:bodyPr>
          <a:p>
            <a:r>
              <a:rPr lang="zh-CN" altLang="en-US"/>
              <a:t>世界模型可以先通过无监督/自监督方式学习环境结构，然后再用于具体任务。</a:t>
            </a:r>
            <a:r>
              <a:rPr lang="zh-CN" altLang="en-US">
                <a:solidFill>
                  <a:schemeClr val="accent6"/>
                </a:solidFill>
              </a:rPr>
              <a:t>世界模型可以作为一个通用的理解世界的</a:t>
            </a:r>
            <a:r>
              <a:rPr lang="zh-CN" altLang="en-US">
                <a:solidFill>
                  <a:schemeClr val="accent6"/>
                </a:solidFill>
              </a:rPr>
              <a:t>感知大脑</a:t>
            </a:r>
            <a:endParaRPr lang="zh-CN" altLang="en-US">
              <a:solidFill>
                <a:schemeClr val="accent6"/>
              </a:solidFill>
            </a:endParaRPr>
          </a:p>
        </p:txBody>
      </p:sp>
      <p:sp>
        <p:nvSpPr>
          <p:cNvPr id="4" name="文本框 3"/>
          <p:cNvSpPr txBox="1"/>
          <p:nvPr/>
        </p:nvSpPr>
        <p:spPr>
          <a:xfrm>
            <a:off x="297180" y="1398270"/>
            <a:ext cx="4064000" cy="368300"/>
          </a:xfrm>
          <a:prstGeom prst="rect">
            <a:avLst/>
          </a:prstGeom>
          <a:noFill/>
        </p:spPr>
        <p:txBody>
          <a:bodyPr wrap="square" rtlCol="0">
            <a:spAutoFit/>
          </a:bodyPr>
          <a:p>
            <a:r>
              <a:rPr lang="zh-CN" altLang="en-US"/>
              <a:t>世界模型会被策略钻漏洞</a:t>
            </a:r>
            <a:endParaRPr lang="zh-CN" altLang="en-US"/>
          </a:p>
        </p:txBody>
      </p:sp>
      <p:sp>
        <p:nvSpPr>
          <p:cNvPr id="5" name="文本框 4"/>
          <p:cNvSpPr txBox="1"/>
          <p:nvPr/>
        </p:nvSpPr>
        <p:spPr>
          <a:xfrm>
            <a:off x="857250" y="1839595"/>
            <a:ext cx="11002645" cy="1198880"/>
          </a:xfrm>
          <a:prstGeom prst="rect">
            <a:avLst/>
          </a:prstGeom>
          <a:noFill/>
        </p:spPr>
        <p:txBody>
          <a:bodyPr wrap="square" rtlCol="0">
            <a:spAutoFit/>
          </a:bodyPr>
          <a:p>
            <a:r>
              <a:rPr lang="zh-CN" altLang="en-US"/>
              <a:t>因为 </a:t>
            </a:r>
            <a:r>
              <a:rPr lang="en-US" altLang="zh-CN"/>
              <a:t>learned world model </a:t>
            </a:r>
            <a:r>
              <a:rPr lang="zh-CN" altLang="en-US"/>
              <a:t>只是现实环境的近似模型，它可能有错误。</a:t>
            </a:r>
            <a:r>
              <a:rPr lang="en-US" altLang="zh-CN"/>
              <a:t>Controller </a:t>
            </a:r>
            <a:r>
              <a:rPr lang="zh-CN" altLang="en-US"/>
              <a:t>如果只在这个模型中训练，就可能学到一种“欺骗模型”的策略，而不是学到真实环境中有效的策略。文章在 </a:t>
            </a:r>
            <a:r>
              <a:rPr lang="en-US" altLang="zh-CN"/>
              <a:t>VizDoom </a:t>
            </a:r>
            <a:r>
              <a:rPr lang="zh-CN" altLang="en-US"/>
              <a:t>中观察到，</a:t>
            </a:r>
            <a:r>
              <a:rPr lang="en-US" altLang="zh-CN"/>
              <a:t>agent </a:t>
            </a:r>
            <a:r>
              <a:rPr lang="zh-CN" altLang="en-US"/>
              <a:t>有时会发现一种 </a:t>
            </a:r>
            <a:r>
              <a:rPr lang="en-US" altLang="zh-CN"/>
              <a:t>adversarial policy，</a:t>
            </a:r>
            <a:r>
              <a:rPr lang="zh-CN" altLang="en-US"/>
              <a:t>让虚拟环境中的火球消失，或者让怪物不发射火球。这个策略在 </a:t>
            </a:r>
            <a:r>
              <a:rPr lang="en-US" altLang="zh-CN"/>
              <a:t>dream world </a:t>
            </a:r>
            <a:r>
              <a:rPr lang="zh-CN" altLang="en-US"/>
              <a:t>里有效，但在真实环境里会失败。</a:t>
            </a:r>
            <a:endParaRPr lang="zh-CN" altLang="en-US"/>
          </a:p>
        </p:txBody>
      </p:sp>
      <p:sp>
        <p:nvSpPr>
          <p:cNvPr id="6" name="文本框 5"/>
          <p:cNvSpPr txBox="1"/>
          <p:nvPr/>
        </p:nvSpPr>
        <p:spPr>
          <a:xfrm>
            <a:off x="368300" y="3088640"/>
            <a:ext cx="4064000" cy="368300"/>
          </a:xfrm>
          <a:prstGeom prst="rect">
            <a:avLst/>
          </a:prstGeom>
          <a:noFill/>
        </p:spPr>
        <p:txBody>
          <a:bodyPr wrap="square" rtlCol="0">
            <a:spAutoFit/>
          </a:bodyPr>
          <a:p>
            <a:r>
              <a:rPr lang="en-US" altLang="zh-CN"/>
              <a:t>VAE </a:t>
            </a:r>
            <a:r>
              <a:rPr lang="zh-CN" altLang="en-US"/>
              <a:t>压缩不一定等于好的世界表征</a:t>
            </a:r>
            <a:endParaRPr lang="zh-CN" altLang="en-US"/>
          </a:p>
        </p:txBody>
      </p:sp>
      <p:sp>
        <p:nvSpPr>
          <p:cNvPr id="7" name="文本框 6"/>
          <p:cNvSpPr txBox="1"/>
          <p:nvPr/>
        </p:nvSpPr>
        <p:spPr>
          <a:xfrm>
            <a:off x="857250" y="3565525"/>
            <a:ext cx="11002645" cy="645160"/>
          </a:xfrm>
          <a:prstGeom prst="rect">
            <a:avLst/>
          </a:prstGeom>
          <a:noFill/>
        </p:spPr>
        <p:txBody>
          <a:bodyPr wrap="square" rtlCol="0">
            <a:spAutoFit/>
          </a:bodyPr>
          <a:p>
            <a:r>
              <a:rPr lang="zh-CN" altLang="en-US"/>
              <a:t>但“能重建图像”不代表 </a:t>
            </a:r>
            <a:r>
              <a:rPr lang="en-US" altLang="zh-CN"/>
              <a:t>zt	</a:t>
            </a:r>
            <a:r>
              <a:rPr lang="zh-CN" altLang="en-US"/>
              <a:t>一定包含任务最关键的信息。比如 </a:t>
            </a:r>
            <a:r>
              <a:rPr lang="en-US" altLang="zh-CN"/>
              <a:t>VAE </a:t>
            </a:r>
            <a:r>
              <a:rPr lang="zh-CN" altLang="en-US"/>
              <a:t>可能保留了一些视觉细节，但忽略了对控制更重要的状态变量。</a:t>
            </a:r>
            <a:endParaRPr lang="zh-CN" altLang="en-US"/>
          </a:p>
        </p:txBody>
      </p:sp>
      <p:sp>
        <p:nvSpPr>
          <p:cNvPr id="8" name="文本框 7"/>
          <p:cNvSpPr txBox="1"/>
          <p:nvPr/>
        </p:nvSpPr>
        <p:spPr>
          <a:xfrm>
            <a:off x="3316605" y="4367530"/>
            <a:ext cx="7452360" cy="1476375"/>
          </a:xfrm>
          <a:prstGeom prst="rect">
            <a:avLst/>
          </a:prstGeom>
          <a:noFill/>
        </p:spPr>
        <p:txBody>
          <a:bodyPr wrap="square" rtlCol="0">
            <a:spAutoFit/>
          </a:bodyPr>
          <a:p>
            <a:r>
              <a:rPr lang="zh-CN" altLang="en-US"/>
              <a:t>在这篇文章的基本框架中，</a:t>
            </a:r>
            <a:r>
              <a:rPr lang="en-US" altLang="zh-CN"/>
              <a:t>M </a:t>
            </a:r>
            <a:r>
              <a:rPr lang="zh-CN" altLang="en-US"/>
              <a:t>负责理解和预测世界，</a:t>
            </a:r>
            <a:r>
              <a:rPr lang="en-US" altLang="zh-CN"/>
              <a:t>C </a:t>
            </a:r>
            <a:r>
              <a:rPr lang="zh-CN" altLang="en-US"/>
              <a:t>负责选择动作；执行时 </a:t>
            </a:r>
            <a:r>
              <a:rPr lang="en-US" altLang="zh-CN"/>
              <a:t>C </a:t>
            </a:r>
            <a:r>
              <a:rPr lang="zh-CN" altLang="en-US"/>
              <a:t>根据 </a:t>
            </a:r>
            <a:r>
              <a:rPr lang="en-US" altLang="zh-CN"/>
              <a:t>M </a:t>
            </a:r>
            <a:r>
              <a:rPr lang="zh-CN" altLang="en-US"/>
              <a:t>的隐藏状态 </a:t>
            </a:r>
            <a:r>
              <a:rPr lang="en-US" altLang="zh-CN"/>
              <a:t>ht​</a:t>
            </a:r>
            <a:r>
              <a:rPr lang="zh-CN" altLang="en-US"/>
              <a:t>做决策，动作又反过来作为 </a:t>
            </a:r>
            <a:r>
              <a:rPr lang="en-US" altLang="zh-CN"/>
              <a:t>M </a:t>
            </a:r>
            <a:r>
              <a:rPr lang="zh-CN" altLang="en-US"/>
              <a:t>的输入来更新世界模型状态。训练初期通常是 </a:t>
            </a:r>
            <a:r>
              <a:rPr lang="en-US" altLang="zh-CN"/>
              <a:t>M </a:t>
            </a:r>
            <a:r>
              <a:rPr lang="zh-CN" altLang="en-US"/>
              <a:t>先提供世界表征，</a:t>
            </a:r>
            <a:r>
              <a:rPr lang="en-US" altLang="zh-CN"/>
              <a:t>C </a:t>
            </a:r>
            <a:r>
              <a:rPr lang="zh-CN" altLang="en-US"/>
              <a:t>再利用它学习策略；</a:t>
            </a:r>
            <a:r>
              <a:rPr lang="zh-CN" altLang="en-US">
                <a:solidFill>
                  <a:schemeClr val="accent6"/>
                </a:solidFill>
              </a:rPr>
              <a:t>但在迭代训练中，</a:t>
            </a:r>
            <a:r>
              <a:rPr lang="en-US" altLang="zh-CN">
                <a:solidFill>
                  <a:schemeClr val="accent6"/>
                </a:solidFill>
              </a:rPr>
              <a:t>C </a:t>
            </a:r>
            <a:r>
              <a:rPr lang="zh-CN" altLang="en-US">
                <a:solidFill>
                  <a:schemeClr val="accent6"/>
                </a:solidFill>
              </a:rPr>
              <a:t>学到的行为轨迹又会反过来训练 </a:t>
            </a:r>
            <a:r>
              <a:rPr lang="en-US" altLang="zh-CN">
                <a:solidFill>
                  <a:schemeClr val="accent6"/>
                </a:solidFill>
              </a:rPr>
              <a:t>M，</a:t>
            </a:r>
            <a:r>
              <a:rPr lang="zh-CN" altLang="en-US">
                <a:solidFill>
                  <a:schemeClr val="accent6"/>
                </a:solidFill>
              </a:rPr>
              <a:t>因此二者不是单向主导，而是形成一个相互影响的闭环。</a:t>
            </a:r>
            <a:endParaRPr lang="zh-CN" altLang="en-US">
              <a:solidFill>
                <a:schemeClr val="accent6"/>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图片 1"/>
          <p:cNvPicPr>
            <a:picLocks noChangeAspect="1"/>
          </p:cNvPicPr>
          <p:nvPr/>
        </p:nvPicPr>
        <p:blipFill>
          <a:blip r:embed="rId1"/>
          <a:stretch>
            <a:fillRect/>
          </a:stretch>
        </p:blipFill>
        <p:spPr>
          <a:xfrm>
            <a:off x="815340" y="657860"/>
            <a:ext cx="10861040" cy="269494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图片 1"/>
          <p:cNvPicPr>
            <a:picLocks noChangeAspect="1"/>
          </p:cNvPicPr>
          <p:nvPr/>
        </p:nvPicPr>
        <p:blipFill>
          <a:blip r:embed="rId1"/>
          <a:stretch>
            <a:fillRect/>
          </a:stretch>
        </p:blipFill>
        <p:spPr>
          <a:xfrm>
            <a:off x="1350645" y="172720"/>
            <a:ext cx="8820150" cy="3048000"/>
          </a:xfrm>
          <a:prstGeom prst="rect">
            <a:avLst/>
          </a:prstGeom>
        </p:spPr>
      </p:pic>
      <p:sp>
        <p:nvSpPr>
          <p:cNvPr id="3" name="文本框 2"/>
          <p:cNvSpPr txBox="1"/>
          <p:nvPr/>
        </p:nvSpPr>
        <p:spPr>
          <a:xfrm>
            <a:off x="829310" y="3159125"/>
            <a:ext cx="10450830" cy="1753235"/>
          </a:xfrm>
          <a:prstGeom prst="rect">
            <a:avLst/>
          </a:prstGeom>
          <a:noFill/>
        </p:spPr>
        <p:txBody>
          <a:bodyPr wrap="square" rtlCol="0">
            <a:spAutoFit/>
          </a:bodyPr>
          <a:p>
            <a:r>
              <a:rPr lang="zh-CN" altLang="en-US"/>
              <a:t>归纳偏置探针的探测框架，意思是：将一个分布作为输入数据分布，在这个大分布里面采样小分布分别训练基础模型，然后再分别训练一个以状态为输入映射到对应输出的</a:t>
            </a:r>
            <a:r>
              <a:rPr lang="en-US" altLang="zh-CN"/>
              <a:t>Oracle</a:t>
            </a:r>
            <a:r>
              <a:rPr lang="zh-CN" altLang="en-US"/>
              <a:t>模型，作为评判基础模型是否学到世界模型的对照（因为</a:t>
            </a:r>
            <a:r>
              <a:rPr lang="en-US" altLang="zh-CN"/>
              <a:t>Oracle</a:t>
            </a:r>
            <a:r>
              <a:rPr lang="zh-CN" altLang="en-US"/>
              <a:t>模型已知状态，所以他的推理模式与世界模型的推理模式</a:t>
            </a:r>
            <a:r>
              <a:rPr lang="zh-CN" altLang="en-US"/>
              <a:t>一致），</a:t>
            </a:r>
            <a:endParaRPr lang="zh-CN" altLang="en-US"/>
          </a:p>
          <a:p>
            <a:r>
              <a:rPr lang="zh-CN" altLang="en-US"/>
              <a:t>采用的指标是外推可预测性，也就是说从一个输出预测另一个输出的</a:t>
            </a:r>
            <a:r>
              <a:rPr lang="zh-CN" altLang="en-US"/>
              <a:t>能力。</a:t>
            </a:r>
            <a:endParaRPr lang="zh-CN" altLang="en-US"/>
          </a:p>
          <a:p>
            <a:r>
              <a:rPr lang="zh-CN" altLang="en-US"/>
              <a:t>那么评判标准模型是否学到基础模型的指标就是：在一段</a:t>
            </a:r>
            <a:r>
              <a:rPr lang="en-US" altLang="zh-CN"/>
              <a:t>Oracle</a:t>
            </a:r>
            <a:r>
              <a:rPr lang="zh-CN" altLang="en-US"/>
              <a:t>模型的外推可预测性指标的范围内，基础模型的外推可预测性指标是否与</a:t>
            </a:r>
            <a:r>
              <a:rPr lang="en-US" altLang="zh-CN"/>
              <a:t>Oracle</a:t>
            </a:r>
            <a:r>
              <a:rPr lang="zh-CN" altLang="en-US"/>
              <a:t>模型的外推可预测性指标</a:t>
            </a:r>
            <a:r>
              <a:rPr lang="zh-CN" altLang="en-US"/>
              <a:t>相近。</a:t>
            </a:r>
            <a:endParaRPr lang="zh-CN" altLang="en-US"/>
          </a:p>
        </p:txBody>
      </p:sp>
      <p:pic>
        <p:nvPicPr>
          <p:cNvPr id="4" name="图片 3"/>
          <p:cNvPicPr>
            <a:picLocks noChangeAspect="1"/>
          </p:cNvPicPr>
          <p:nvPr/>
        </p:nvPicPr>
        <p:blipFill>
          <a:blip r:embed="rId2"/>
          <a:stretch>
            <a:fillRect/>
          </a:stretch>
        </p:blipFill>
        <p:spPr>
          <a:xfrm>
            <a:off x="749935" y="4912360"/>
            <a:ext cx="4610100" cy="457200"/>
          </a:xfrm>
          <a:prstGeom prst="rect">
            <a:avLst/>
          </a:prstGeom>
        </p:spPr>
      </p:pic>
      <p:pic>
        <p:nvPicPr>
          <p:cNvPr id="5" name="图片 4"/>
          <p:cNvPicPr>
            <a:picLocks noChangeAspect="1"/>
          </p:cNvPicPr>
          <p:nvPr/>
        </p:nvPicPr>
        <p:blipFill>
          <a:blip r:embed="rId3"/>
          <a:stretch>
            <a:fillRect/>
          </a:stretch>
        </p:blipFill>
        <p:spPr>
          <a:xfrm>
            <a:off x="3646170" y="6070600"/>
            <a:ext cx="4229100" cy="314325"/>
          </a:xfrm>
          <a:prstGeom prst="rect">
            <a:avLst/>
          </a:prstGeom>
        </p:spPr>
      </p:pic>
      <p:pic>
        <p:nvPicPr>
          <p:cNvPr id="6" name="图片 5"/>
          <p:cNvPicPr>
            <a:picLocks noChangeAspect="1"/>
          </p:cNvPicPr>
          <p:nvPr/>
        </p:nvPicPr>
        <p:blipFill>
          <a:blip r:embed="rId4"/>
          <a:stretch>
            <a:fillRect/>
          </a:stretch>
        </p:blipFill>
        <p:spPr>
          <a:xfrm>
            <a:off x="6106795" y="4973955"/>
            <a:ext cx="4572000" cy="333375"/>
          </a:xfrm>
          <a:prstGeom prst="rect">
            <a:avLst/>
          </a:prstGeom>
        </p:spPr>
      </p:pic>
      <p:pic>
        <p:nvPicPr>
          <p:cNvPr id="7" name="图片 6"/>
          <p:cNvPicPr>
            <a:picLocks noChangeAspect="1"/>
          </p:cNvPicPr>
          <p:nvPr/>
        </p:nvPicPr>
        <p:blipFill>
          <a:blip r:embed="rId5"/>
          <a:stretch>
            <a:fillRect/>
          </a:stretch>
        </p:blipFill>
        <p:spPr>
          <a:xfrm>
            <a:off x="3646170" y="5737860"/>
            <a:ext cx="4257675" cy="304800"/>
          </a:xfrm>
          <a:prstGeom prst="rect">
            <a:avLst/>
          </a:prstGeom>
        </p:spPr>
      </p:pic>
      <p:sp>
        <p:nvSpPr>
          <p:cNvPr id="8" name="文本框 7"/>
          <p:cNvSpPr txBox="1"/>
          <p:nvPr/>
        </p:nvSpPr>
        <p:spPr>
          <a:xfrm>
            <a:off x="1105535" y="5369560"/>
            <a:ext cx="4064000" cy="368300"/>
          </a:xfrm>
          <a:prstGeom prst="rect">
            <a:avLst/>
          </a:prstGeom>
          <a:noFill/>
        </p:spPr>
        <p:txBody>
          <a:bodyPr wrap="square" rtlCol="0">
            <a:spAutoFit/>
          </a:bodyPr>
          <a:p>
            <a:r>
              <a:rPr lang="zh-CN" altLang="en-US"/>
              <a:t>外推可预测性（</a:t>
            </a:r>
            <a:r>
              <a:rPr lang="zh-CN" altLang="en-US"/>
              <a:t>基础模型）</a:t>
            </a:r>
            <a:endParaRPr lang="zh-CN" altLang="en-US"/>
          </a:p>
        </p:txBody>
      </p:sp>
      <p:sp>
        <p:nvSpPr>
          <p:cNvPr id="9" name="文本框 8"/>
          <p:cNvSpPr txBox="1"/>
          <p:nvPr/>
        </p:nvSpPr>
        <p:spPr>
          <a:xfrm>
            <a:off x="6882130" y="5307330"/>
            <a:ext cx="4064000" cy="368300"/>
          </a:xfrm>
          <a:prstGeom prst="rect">
            <a:avLst/>
          </a:prstGeom>
          <a:noFill/>
        </p:spPr>
        <p:txBody>
          <a:bodyPr wrap="square" rtlCol="0">
            <a:spAutoFit/>
          </a:bodyPr>
          <a:p>
            <a:r>
              <a:rPr lang="zh-CN" altLang="en-US"/>
              <a:t>外推可预测性（</a:t>
            </a:r>
            <a:r>
              <a:rPr lang="en-US" altLang="zh-CN"/>
              <a:t>Oracle</a:t>
            </a:r>
            <a:r>
              <a:rPr lang="zh-CN" altLang="en-US"/>
              <a:t>模型）</a:t>
            </a:r>
            <a:endParaRPr lang="zh-CN" altLang="en-US"/>
          </a:p>
        </p:txBody>
      </p:sp>
      <p:sp>
        <p:nvSpPr>
          <p:cNvPr id="10" name="文本框 9"/>
          <p:cNvSpPr txBox="1"/>
          <p:nvPr/>
        </p:nvSpPr>
        <p:spPr>
          <a:xfrm>
            <a:off x="3597910" y="6412865"/>
            <a:ext cx="4794250" cy="368300"/>
          </a:xfrm>
          <a:prstGeom prst="rect">
            <a:avLst/>
          </a:prstGeom>
          <a:noFill/>
        </p:spPr>
        <p:txBody>
          <a:bodyPr wrap="square" rtlCol="0">
            <a:spAutoFit/>
          </a:bodyPr>
          <a:p>
            <a:r>
              <a:rPr lang="en-US" altLang="zh-CN"/>
              <a:t>Oracle</a:t>
            </a:r>
            <a:r>
              <a:rPr lang="zh-CN" altLang="en-US"/>
              <a:t>模型的训练（已知输入数据的</a:t>
            </a:r>
            <a:r>
              <a:rPr lang="zh-CN" altLang="en-US"/>
              <a:t>状态）</a:t>
            </a:r>
            <a:endParaRPr lang="zh-CN" altLang="en-US"/>
          </a:p>
        </p:txBody>
      </p:sp>
      <p:sp>
        <p:nvSpPr>
          <p:cNvPr id="11" name="文本框 10"/>
          <p:cNvSpPr txBox="1"/>
          <p:nvPr/>
        </p:nvSpPr>
        <p:spPr>
          <a:xfrm>
            <a:off x="7903845" y="5713730"/>
            <a:ext cx="4064000" cy="368300"/>
          </a:xfrm>
          <a:prstGeom prst="rect">
            <a:avLst/>
          </a:prstGeom>
          <a:noFill/>
        </p:spPr>
        <p:txBody>
          <a:bodyPr wrap="square" rtlCol="0">
            <a:spAutoFit/>
          </a:bodyPr>
          <a:p>
            <a:r>
              <a:rPr lang="zh-CN" altLang="en-US"/>
              <a:t>归纳</a:t>
            </a:r>
            <a:r>
              <a:rPr lang="zh-CN" altLang="en-US"/>
              <a:t>偏置</a:t>
            </a:r>
            <a:endParaRPr lang="zh-CN" alt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图片 1"/>
          <p:cNvPicPr>
            <a:picLocks noChangeAspect="1"/>
          </p:cNvPicPr>
          <p:nvPr/>
        </p:nvPicPr>
        <p:blipFill>
          <a:blip r:embed="rId1"/>
          <a:stretch>
            <a:fillRect/>
          </a:stretch>
        </p:blipFill>
        <p:spPr>
          <a:xfrm>
            <a:off x="2314575" y="271780"/>
            <a:ext cx="7562850" cy="2874645"/>
          </a:xfrm>
          <a:prstGeom prst="rect">
            <a:avLst/>
          </a:prstGeom>
        </p:spPr>
      </p:pic>
      <p:sp>
        <p:nvSpPr>
          <p:cNvPr id="3" name="文本框 2"/>
          <p:cNvSpPr txBox="1"/>
          <p:nvPr/>
        </p:nvSpPr>
        <p:spPr>
          <a:xfrm>
            <a:off x="499745" y="3244850"/>
            <a:ext cx="9315450" cy="645160"/>
          </a:xfrm>
          <a:prstGeom prst="rect">
            <a:avLst/>
          </a:prstGeom>
          <a:noFill/>
        </p:spPr>
        <p:txBody>
          <a:bodyPr wrap="square" rtlCol="0">
            <a:spAutoFit/>
          </a:bodyPr>
          <a:p>
            <a:r>
              <a:rPr lang="zh-CN" altLang="en-US"/>
              <a:t>模型可能学到了一些局部的、任务相关的伪规律或启发式，但没有学到一个统一、紧凑、可迁移的 </a:t>
            </a:r>
            <a:r>
              <a:rPr lang="en-US" altLang="zh-CN"/>
              <a:t>Newtonian world model。</a:t>
            </a:r>
            <a:endParaRPr lang="en-US" altLang="zh-CN"/>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3" name="图片 2"/>
          <p:cNvPicPr>
            <a:picLocks noChangeAspect="1"/>
          </p:cNvPicPr>
          <p:nvPr/>
        </p:nvPicPr>
        <p:blipFill>
          <a:blip r:embed="rId1"/>
          <a:stretch>
            <a:fillRect/>
          </a:stretch>
        </p:blipFill>
        <p:spPr>
          <a:xfrm>
            <a:off x="396240" y="361315"/>
            <a:ext cx="11656060" cy="2994660"/>
          </a:xfrm>
          <a:prstGeom prst="rect">
            <a:avLst/>
          </a:prstGeom>
        </p:spPr>
      </p:pic>
      <p:sp>
        <p:nvSpPr>
          <p:cNvPr id="4" name="文本框 3"/>
          <p:cNvSpPr txBox="1"/>
          <p:nvPr/>
        </p:nvSpPr>
        <p:spPr>
          <a:xfrm>
            <a:off x="744220" y="4474845"/>
            <a:ext cx="9655810" cy="922020"/>
          </a:xfrm>
          <a:prstGeom prst="rect">
            <a:avLst/>
          </a:prstGeom>
          <a:noFill/>
        </p:spPr>
        <p:txBody>
          <a:bodyPr wrap="square" rtlCol="0">
            <a:spAutoFit/>
          </a:bodyPr>
          <a:p>
            <a:r>
              <a:rPr lang="zh-CN" altLang="en-US"/>
              <a:t>这说明 </a:t>
            </a:r>
            <a:r>
              <a:rPr lang="en-US" altLang="zh-CN"/>
              <a:t>foundation model </a:t>
            </a:r>
            <a:r>
              <a:rPr lang="zh-CN" altLang="en-US"/>
              <a:t>的学习结果强烈受训练目标诱导。模型可能优先学习能够优化当前任务表现的 </a:t>
            </a:r>
            <a:r>
              <a:rPr lang="en-US" altLang="zh-CN"/>
              <a:t>task-specific heuristics，</a:t>
            </a:r>
            <a:r>
              <a:rPr lang="zh-CN" altLang="en-US"/>
              <a:t>而不是完整恢复任务背后的底层状态空间或因果机制。因此，高预测性能并不能直接说明模型具有真正的 </a:t>
            </a:r>
            <a:r>
              <a:rPr lang="en-US" altLang="zh-CN"/>
              <a:t>world model。</a:t>
            </a:r>
            <a:endParaRPr lang="en-US" altLang="zh-CN"/>
          </a:p>
        </p:txBody>
      </p:sp>
      <p:sp>
        <p:nvSpPr>
          <p:cNvPr id="5" name="文本框 4"/>
          <p:cNvSpPr txBox="1"/>
          <p:nvPr/>
        </p:nvSpPr>
        <p:spPr>
          <a:xfrm>
            <a:off x="744220" y="3429000"/>
            <a:ext cx="11308080" cy="922020"/>
          </a:xfrm>
          <a:prstGeom prst="rect">
            <a:avLst/>
          </a:prstGeom>
          <a:noFill/>
        </p:spPr>
        <p:txBody>
          <a:bodyPr wrap="square" rtlCol="0">
            <a:spAutoFit/>
          </a:bodyPr>
          <a:p>
            <a:r>
              <a:rPr lang="zh-CN" altLang="en-US"/>
              <a:t>作者发现：即使模型的 </a:t>
            </a:r>
            <a:r>
              <a:rPr lang="en-US" altLang="zh-CN"/>
              <a:t>board reconstruction </a:t>
            </a:r>
            <a:r>
              <a:rPr lang="zh-CN" altLang="en-US"/>
              <a:t>不完美，也就是棋盘格子预测有错误，它仍然经常能让 </a:t>
            </a:r>
            <a:r>
              <a:rPr lang="en-US" altLang="zh-CN"/>
              <a:t>valid next moves </a:t>
            </a:r>
            <a:r>
              <a:rPr lang="zh-CN" altLang="en-US"/>
              <a:t>和真实棋盘一致。文章明确说，即使预测棋盘是错的，合法下一步集合也经常和真实棋盘匹配；模型不是恢复完整棋盘，而是恢复了“足够计算合法下一步”的棋盘信息。</a:t>
            </a:r>
            <a:endParaRPr lang="zh-CN" alt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Tree>
  </p:cSld>
  <p:clrMapOvr>
    <a:masterClrMapping/>
  </p:clrMapOvr>
</p:sld>
</file>

<file path=ppt/theme/theme1.xml><?xml version="1.0" encoding="utf-8"?>
<a:theme xmlns:a="http://schemas.openxmlformats.org/drawingml/2006/main" name="WPS">
  <a:themeElements>
    <a:clrScheme name="WPS">
      <a:dk1>
        <a:sysClr val="windowText" lastClr="000000"/>
      </a:dk1>
      <a:lt1>
        <a:sysClr val="window" lastClr="FFFFFF"/>
      </a:lt1>
      <a:dk2>
        <a:srgbClr val="44546A"/>
      </a:dk2>
      <a:lt2>
        <a:srgbClr val="E7E6E6"/>
      </a:lt2>
      <a:accent1>
        <a:srgbClr val="4874CB"/>
      </a:accent1>
      <a:accent2>
        <a:srgbClr val="EE822F"/>
      </a:accent2>
      <a:accent3>
        <a:srgbClr val="F2BA02"/>
      </a:accent3>
      <a:accent4>
        <a:srgbClr val="75BD42"/>
      </a:accent4>
      <a:accent5>
        <a:srgbClr val="30C0B4"/>
      </a:accent5>
      <a:accent6>
        <a:srgbClr val="E54C5E"/>
      </a:accent6>
      <a:hlink>
        <a:srgbClr val="0026E5"/>
      </a:hlink>
      <a:folHlink>
        <a:srgbClr val="7E1FAD"/>
      </a:folHlink>
    </a:clrScheme>
    <a:fontScheme name="WPS">
      <a:majorFont>
        <a:latin typeface="Calibri"/>
        <a:ea typeface=""/>
        <a:cs typeface=""/>
        <a:font script="Jpan" typeface="ＭＳ Ｐゴシック"/>
        <a:font script="Hang" typeface="맑은 고딕"/>
        <a:font script="Hans" typeface="微软雅黑"/>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微软雅黑"/>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WPS">
      <a:fillStyleLst>
        <a:solidFill>
          <a:schemeClr val="phClr"/>
        </a:solidFill>
        <a:gradFill>
          <a:gsLst>
            <a:gs pos="0">
              <a:schemeClr val="phClr">
                <a:lumOff val="17500"/>
              </a:schemeClr>
            </a:gs>
            <a:gs pos="100000">
              <a:schemeClr val="phClr"/>
            </a:gs>
          </a:gsLst>
          <a:lin ang="2700000" scaled="0"/>
        </a:gradFill>
        <a:gradFill>
          <a:gsLst>
            <a:gs pos="0">
              <a:schemeClr val="phClr">
                <a:hueOff val="-2520000"/>
              </a:schemeClr>
            </a:gs>
            <a:gs pos="100000">
              <a:schemeClr val="phClr"/>
            </a:gs>
          </a:gsLst>
          <a:lin ang="2700000" scaled="0"/>
        </a:gradFill>
      </a:fillStyleLst>
      <a:lnStyleLst>
        <a:ln w="12700" cap="flat" cmpd="sng" algn="ctr">
          <a:solidFill>
            <a:schemeClr val="phClr"/>
          </a:solidFill>
          <a:prstDash val="solid"/>
          <a:miter lim="800000"/>
        </a:ln>
        <a:ln w="12700" cap="flat" cmpd="sng" algn="ctr">
          <a:solidFill>
            <a:schemeClr val="phClr"/>
          </a:solidFill>
          <a:prstDash val="solid"/>
          <a:miter lim="800000"/>
        </a:ln>
        <a:ln w="12700" cap="flat" cmpd="sng" algn="ctr">
          <a:gradFill>
            <a:gsLst>
              <a:gs pos="0">
                <a:schemeClr val="phClr">
                  <a:hueOff val="-4200000"/>
                </a:schemeClr>
              </a:gs>
              <a:gs pos="100000">
                <a:schemeClr val="phClr"/>
              </a:gs>
            </a:gsLst>
            <a:lin ang="2700000" scaled="1"/>
          </a:gradFill>
          <a:prstDash val="solid"/>
          <a:miter lim="800000"/>
        </a:ln>
      </a:lnStyleLst>
      <a:effectStyleLst>
        <a:effectStyle>
          <a:effectLst>
            <a:outerShdw blurRad="101600" dist="50800" dir="5400000" algn="ctr" rotWithShape="0">
              <a:schemeClr val="phClr">
                <a:alpha val="60000"/>
              </a:schemeClr>
            </a:outerShdw>
          </a:effectLst>
        </a:effectStyle>
        <a:effectStyle>
          <a:effectLst>
            <a:reflection stA="50000" endA="300" endPos="40000" dist="25400" dir="5400000" sy="-100000" algn="bl" rotWithShape="0"/>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1989</Words>
  <Application>WPS 演示</Application>
  <PresentationFormat>宽屏</PresentationFormat>
  <Paragraphs>51</Paragraphs>
  <Slides>9</Slides>
  <Notes>0</Notes>
  <HiddenSlides>0</HiddenSlides>
  <MMClips>0</MMClips>
  <ScaleCrop>false</ScaleCrop>
  <HeadingPairs>
    <vt:vector size="6" baseType="variant">
      <vt:variant>
        <vt:lpstr>已用的字体</vt:lpstr>
      </vt:variant>
      <vt:variant>
        <vt:i4>6</vt:i4>
      </vt:variant>
      <vt:variant>
        <vt:lpstr>主题</vt:lpstr>
      </vt:variant>
      <vt:variant>
        <vt:i4>1</vt:i4>
      </vt:variant>
      <vt:variant>
        <vt:lpstr>幻灯片标题</vt:lpstr>
      </vt:variant>
      <vt:variant>
        <vt:i4>9</vt:i4>
      </vt:variant>
    </vt:vector>
  </HeadingPairs>
  <TitlesOfParts>
    <vt:vector size="16" baseType="lpstr">
      <vt:lpstr>Arial</vt:lpstr>
      <vt:lpstr>宋体</vt:lpstr>
      <vt:lpstr>Wingdings</vt:lpstr>
      <vt:lpstr>微软雅黑</vt:lpstr>
      <vt:lpstr>Calibri</vt:lpstr>
      <vt:lpstr>Arial Unicode MS</vt:lpstr>
      <vt:lpstr>WPS</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WPS_1633855939</cp:lastModifiedBy>
  <cp:revision>19</cp:revision>
  <dcterms:created xsi:type="dcterms:W3CDTF">2023-08-09T12:44:00Z</dcterms:created>
  <dcterms:modified xsi:type="dcterms:W3CDTF">2026-06-10T07:39:19Z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2052-12.1.0.26375</vt:lpwstr>
  </property>
  <property fmtid="{D5CDD505-2E9C-101B-9397-08002B2CF9AE}" pid="3" name="ICV">
    <vt:lpwstr>31FB8AB230BA4DB08747457F48A08E8B_12</vt:lpwstr>
  </property>
</Properties>
</file>