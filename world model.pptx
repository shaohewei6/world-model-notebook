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3225165" y="829310"/>
            <a:ext cx="6515100" cy="3067050"/>
          </a:xfrm>
          <a:prstGeom prst="rect">
            <a:avLst/>
          </a:prstGeom>
        </p:spPr>
      </p:pic>
      <p:sp>
        <p:nvSpPr>
          <p:cNvPr id="6" name="文本框 5"/>
          <p:cNvSpPr txBox="1"/>
          <p:nvPr/>
        </p:nvSpPr>
        <p:spPr>
          <a:xfrm>
            <a:off x="1169035" y="3896360"/>
            <a:ext cx="8663305" cy="922020"/>
          </a:xfrm>
          <a:prstGeom prst="rect">
            <a:avLst/>
          </a:prstGeom>
          <a:noFill/>
        </p:spPr>
        <p:txBody>
          <a:bodyPr wrap="square" rtlCol="0">
            <a:spAutoFit/>
          </a:bodyPr>
          <a:p>
            <a:r>
              <a:rPr lang="zh-CN" altLang="en-US"/>
              <a:t>这篇文章讲述了世界模型的一个定义，说明世界模型更像是人脑一样：将外部的复杂的感觉信息压缩到一个更加低维的时空表征，利用这个更加低维的时空表征与前一个时刻或者之前的记忆和当前的动作信息来预测下一个时刻或者说未来的时空</a:t>
            </a:r>
            <a:r>
              <a:rPr lang="zh-CN" altLang="en-US"/>
              <a:t>表征。</a:t>
            </a:r>
            <a:endParaRPr lang="zh-CN" altLang="en-US"/>
          </a:p>
        </p:txBody>
      </p:sp>
      <p:sp>
        <p:nvSpPr>
          <p:cNvPr id="7" name="文本框 6"/>
          <p:cNvSpPr txBox="1"/>
          <p:nvPr/>
        </p:nvSpPr>
        <p:spPr>
          <a:xfrm>
            <a:off x="1254760" y="4921250"/>
            <a:ext cx="8911590" cy="645160"/>
          </a:xfrm>
          <a:prstGeom prst="rect">
            <a:avLst/>
          </a:prstGeom>
          <a:noFill/>
        </p:spPr>
        <p:txBody>
          <a:bodyPr wrap="square" rtlCol="0">
            <a:spAutoFit/>
          </a:bodyPr>
          <a:p>
            <a:r>
              <a:rPr lang="zh-CN" altLang="en-US">
                <a:solidFill>
                  <a:srgbClr val="FF0000"/>
                </a:solidFill>
              </a:rPr>
              <a:t>把复杂的外部感觉输入压缩成低维 </a:t>
            </a:r>
            <a:r>
              <a:rPr lang="en-US" altLang="zh-CN">
                <a:solidFill>
                  <a:srgbClr val="FF0000"/>
                </a:solidFill>
              </a:rPr>
              <a:t>latent </a:t>
            </a:r>
            <a:r>
              <a:rPr lang="zh-CN" altLang="en-US">
                <a:solidFill>
                  <a:srgbClr val="FF0000"/>
                </a:solidFill>
              </a:rPr>
              <a:t>表征，并在这个低维空间中学习动作条件下的时间动态，从而让智能体能够基于内部世界模型预测未来和做决策。</a:t>
            </a:r>
            <a:endParaRPr lang="zh-CN" altLang="en-US">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512445" y="116840"/>
            <a:ext cx="5584190" cy="4020820"/>
          </a:xfrm>
          <a:prstGeom prst="rect">
            <a:avLst/>
          </a:prstGeom>
        </p:spPr>
      </p:pic>
      <p:sp>
        <p:nvSpPr>
          <p:cNvPr id="5" name="文本框 4"/>
          <p:cNvSpPr txBox="1"/>
          <p:nvPr/>
        </p:nvSpPr>
        <p:spPr>
          <a:xfrm>
            <a:off x="6744335" y="116840"/>
            <a:ext cx="4064000" cy="368300"/>
          </a:xfrm>
          <a:prstGeom prst="rect">
            <a:avLst/>
          </a:prstGeom>
          <a:noFill/>
        </p:spPr>
        <p:txBody>
          <a:bodyPr wrap="square" rtlCol="0">
            <a:spAutoFit/>
          </a:bodyPr>
          <a:p>
            <a:r>
              <a:rPr lang="zh-CN" altLang="en-US"/>
              <a:t>文章提出了</a:t>
            </a:r>
            <a:r>
              <a:rPr lang="en-US" altLang="zh-CN"/>
              <a:t>V+M+C</a:t>
            </a:r>
            <a:r>
              <a:rPr lang="zh-CN" altLang="en-US"/>
              <a:t>框架</a:t>
            </a:r>
            <a:endParaRPr lang="en-US" altLang="zh-CN"/>
          </a:p>
        </p:txBody>
      </p:sp>
      <p:pic>
        <p:nvPicPr>
          <p:cNvPr id="6" name="图片 5"/>
          <p:cNvPicPr>
            <a:picLocks noChangeAspect="1"/>
          </p:cNvPicPr>
          <p:nvPr/>
        </p:nvPicPr>
        <p:blipFill>
          <a:blip r:embed="rId2"/>
          <a:stretch>
            <a:fillRect/>
          </a:stretch>
        </p:blipFill>
        <p:spPr>
          <a:xfrm>
            <a:off x="6441440" y="3272155"/>
            <a:ext cx="4513580" cy="3381375"/>
          </a:xfrm>
          <a:prstGeom prst="rect">
            <a:avLst/>
          </a:prstGeom>
        </p:spPr>
      </p:pic>
      <p:sp>
        <p:nvSpPr>
          <p:cNvPr id="8" name="文本框 7"/>
          <p:cNvSpPr txBox="1"/>
          <p:nvPr/>
        </p:nvSpPr>
        <p:spPr>
          <a:xfrm>
            <a:off x="6096635" y="485140"/>
            <a:ext cx="5701665" cy="2030095"/>
          </a:xfrm>
          <a:prstGeom prst="rect">
            <a:avLst/>
          </a:prstGeom>
          <a:noFill/>
        </p:spPr>
        <p:txBody>
          <a:bodyPr wrap="square" rtlCol="0">
            <a:spAutoFit/>
          </a:bodyPr>
          <a:p>
            <a:r>
              <a:rPr lang="zh-CN" altLang="en-US"/>
              <a:t>其中</a:t>
            </a:r>
            <a:r>
              <a:rPr lang="en-US" altLang="zh-CN"/>
              <a:t>V</a:t>
            </a:r>
            <a:r>
              <a:rPr lang="zh-CN" altLang="en-US"/>
              <a:t>和</a:t>
            </a:r>
            <a:r>
              <a:rPr lang="en-US" altLang="zh-CN"/>
              <a:t>M</a:t>
            </a:r>
            <a:r>
              <a:rPr lang="zh-CN" altLang="en-US"/>
              <a:t>共同组成了文章中提出了</a:t>
            </a:r>
            <a:r>
              <a:rPr lang="en-US" altLang="zh-CN"/>
              <a:t>World model</a:t>
            </a:r>
            <a:r>
              <a:rPr lang="zh-CN" altLang="en-US"/>
              <a:t>的</a:t>
            </a:r>
            <a:r>
              <a:rPr lang="zh-CN" altLang="en-US"/>
              <a:t>概念。</a:t>
            </a:r>
            <a:endParaRPr lang="zh-CN" altLang="en-US"/>
          </a:p>
          <a:p>
            <a:pPr marL="285750" indent="-285750">
              <a:buFont typeface="Arial" panose="020B0604020202020204" pitchFamily="34" charset="0"/>
              <a:buChar char="•"/>
            </a:pPr>
            <a:r>
              <a:rPr lang="en-US" altLang="zh-CN"/>
              <a:t>V</a:t>
            </a:r>
            <a:r>
              <a:rPr lang="zh-CN" altLang="en-US"/>
              <a:t>模型负责将外部的感觉输入压缩到</a:t>
            </a:r>
            <a:r>
              <a:rPr lang="en-US" altLang="zh-CN"/>
              <a:t>latent</a:t>
            </a:r>
            <a:r>
              <a:rPr lang="zh-CN" altLang="en-US"/>
              <a:t>表征。</a:t>
            </a:r>
            <a:endParaRPr lang="zh-CN" altLang="en-US"/>
          </a:p>
          <a:p>
            <a:pPr marL="285750" indent="-285750">
              <a:buFont typeface="Arial" panose="020B0604020202020204" pitchFamily="34" charset="0"/>
              <a:buChar char="•"/>
            </a:pPr>
            <a:r>
              <a:rPr lang="en-US" altLang="zh-CN"/>
              <a:t>M</a:t>
            </a:r>
            <a:r>
              <a:rPr lang="zh-CN" altLang="en-US"/>
              <a:t>是一个</a:t>
            </a:r>
            <a:r>
              <a:rPr lang="zh-CN" altLang="en-US">
                <a:solidFill>
                  <a:schemeClr val="tx1"/>
                </a:solidFill>
              </a:rPr>
              <a:t>具有记忆的未来预测器，</a:t>
            </a:r>
            <a:r>
              <a:rPr lang="en-US" altLang="zh-CN">
                <a:solidFill>
                  <a:schemeClr val="tx1"/>
                </a:solidFill>
              </a:rPr>
              <a:t>M</a:t>
            </a:r>
            <a:r>
              <a:rPr lang="zh-CN" altLang="en-US">
                <a:solidFill>
                  <a:schemeClr val="tx1"/>
                </a:solidFill>
              </a:rPr>
              <a:t>获取</a:t>
            </a:r>
            <a:r>
              <a:rPr lang="zh-CN" altLang="en-US">
                <a:solidFill>
                  <a:srgbClr val="FF0000"/>
                </a:solidFill>
              </a:rPr>
              <a:t>当前时刻</a:t>
            </a:r>
            <a:r>
              <a:rPr lang="en-US" altLang="zh-CN">
                <a:solidFill>
                  <a:srgbClr val="FF0000"/>
                </a:solidFill>
              </a:rPr>
              <a:t>V</a:t>
            </a:r>
            <a:r>
              <a:rPr lang="zh-CN" altLang="en-US">
                <a:solidFill>
                  <a:srgbClr val="FF0000"/>
                </a:solidFill>
              </a:rPr>
              <a:t>所压缩到的外部世界感觉</a:t>
            </a:r>
            <a:r>
              <a:rPr lang="en-US" altLang="zh-CN">
                <a:solidFill>
                  <a:srgbClr val="FF0000"/>
                </a:solidFill>
              </a:rPr>
              <a:t>(zt)</a:t>
            </a:r>
            <a:r>
              <a:rPr lang="zh-CN" altLang="en-US">
                <a:solidFill>
                  <a:schemeClr val="tx1"/>
                </a:solidFill>
              </a:rPr>
              <a:t>、</a:t>
            </a:r>
            <a:r>
              <a:rPr lang="en-US" altLang="zh-CN">
                <a:solidFill>
                  <a:srgbClr val="FF0000"/>
                </a:solidFill>
              </a:rPr>
              <a:t>M</a:t>
            </a:r>
            <a:r>
              <a:rPr lang="zh-CN" altLang="en-US">
                <a:solidFill>
                  <a:srgbClr val="FF0000"/>
                </a:solidFill>
              </a:rPr>
              <a:t>之前时刻</a:t>
            </a:r>
            <a:r>
              <a:rPr lang="en-US" altLang="zh-CN">
                <a:solidFill>
                  <a:srgbClr val="FF0000"/>
                </a:solidFill>
              </a:rPr>
              <a:t>(t-1)</a:t>
            </a:r>
            <a:r>
              <a:rPr lang="zh-CN" altLang="en-US">
                <a:solidFill>
                  <a:srgbClr val="FF0000"/>
                </a:solidFill>
              </a:rPr>
              <a:t>的内部记忆</a:t>
            </a:r>
            <a:r>
              <a:rPr lang="en-US" altLang="zh-CN">
                <a:solidFill>
                  <a:srgbClr val="FF0000"/>
                </a:solidFill>
              </a:rPr>
              <a:t>(ht)</a:t>
            </a:r>
            <a:r>
              <a:rPr lang="zh-CN" altLang="en-US">
                <a:solidFill>
                  <a:schemeClr val="tx1"/>
                </a:solidFill>
              </a:rPr>
              <a:t>与</a:t>
            </a:r>
            <a:r>
              <a:rPr lang="zh-CN" altLang="en-US">
                <a:solidFill>
                  <a:srgbClr val="FF0000"/>
                </a:solidFill>
              </a:rPr>
              <a:t>当前时刻</a:t>
            </a:r>
            <a:r>
              <a:rPr lang="en-US" altLang="zh-CN">
                <a:solidFill>
                  <a:srgbClr val="FF0000"/>
                </a:solidFill>
              </a:rPr>
              <a:t>C</a:t>
            </a:r>
            <a:r>
              <a:rPr lang="zh-CN" altLang="en-US">
                <a:solidFill>
                  <a:srgbClr val="FF0000"/>
                </a:solidFill>
              </a:rPr>
              <a:t>所产生的动作</a:t>
            </a:r>
            <a:r>
              <a:rPr lang="en-US" altLang="zh-CN">
                <a:solidFill>
                  <a:srgbClr val="FF0000"/>
                </a:solidFill>
              </a:rPr>
              <a:t>(at)</a:t>
            </a:r>
            <a:r>
              <a:rPr lang="zh-CN" altLang="en-US">
                <a:solidFill>
                  <a:schemeClr val="tx1"/>
                </a:solidFill>
              </a:rPr>
              <a:t>来对</a:t>
            </a:r>
            <a:r>
              <a:rPr lang="zh-CN" altLang="en-US">
                <a:solidFill>
                  <a:srgbClr val="FF0000"/>
                </a:solidFill>
              </a:rPr>
              <a:t>下一时刻的</a:t>
            </a:r>
            <a:r>
              <a:rPr lang="en-US" altLang="zh-CN">
                <a:solidFill>
                  <a:srgbClr val="FF0000"/>
                </a:solidFill>
              </a:rPr>
              <a:t>latent</a:t>
            </a:r>
            <a:r>
              <a:rPr lang="zh-CN" altLang="en-US">
                <a:solidFill>
                  <a:srgbClr val="FF0000"/>
                </a:solidFill>
              </a:rPr>
              <a:t>信息进行预测</a:t>
            </a:r>
            <a:r>
              <a:rPr lang="en-US" altLang="zh-CN">
                <a:solidFill>
                  <a:srgbClr val="FF0000"/>
                </a:solidFill>
              </a:rPr>
              <a:t>(zt+1)</a:t>
            </a:r>
            <a:endParaRPr lang="en-US" altLang="zh-CN">
              <a:solidFill>
                <a:srgbClr val="FF0000"/>
              </a:solidFill>
            </a:endParaRPr>
          </a:p>
          <a:p>
            <a:pPr marL="285750" indent="-285750">
              <a:buFont typeface="Arial" panose="020B0604020202020204" pitchFamily="34" charset="0"/>
              <a:buChar char="•"/>
            </a:pPr>
            <a:r>
              <a:rPr lang="en-US" altLang="zh-CN">
                <a:solidFill>
                  <a:schemeClr val="tx1"/>
                </a:solidFill>
              </a:rPr>
              <a:t>C</a:t>
            </a:r>
            <a:r>
              <a:rPr lang="zh-CN" altLang="en-US">
                <a:solidFill>
                  <a:schemeClr val="tx1"/>
                </a:solidFill>
              </a:rPr>
              <a:t>是一个控制器，用来根据</a:t>
            </a:r>
            <a:r>
              <a:rPr lang="en-US" altLang="zh-CN">
                <a:solidFill>
                  <a:schemeClr val="tx1"/>
                </a:solidFill>
              </a:rPr>
              <a:t>h</a:t>
            </a:r>
            <a:r>
              <a:rPr lang="zh-CN" altLang="en-US">
                <a:solidFill>
                  <a:schemeClr val="tx1"/>
                </a:solidFill>
              </a:rPr>
              <a:t>和</a:t>
            </a:r>
            <a:r>
              <a:rPr lang="en-US" altLang="zh-CN">
                <a:solidFill>
                  <a:schemeClr val="tx1"/>
                </a:solidFill>
              </a:rPr>
              <a:t>z</a:t>
            </a:r>
            <a:r>
              <a:rPr lang="zh-CN" altLang="en-US">
                <a:solidFill>
                  <a:schemeClr val="tx1"/>
                </a:solidFill>
              </a:rPr>
              <a:t>产生影响环境的</a:t>
            </a:r>
            <a:r>
              <a:rPr lang="zh-CN" altLang="en-US">
                <a:solidFill>
                  <a:schemeClr val="tx1"/>
                </a:solidFill>
              </a:rPr>
              <a:t>动作</a:t>
            </a:r>
            <a:endParaRPr lang="zh-CN" altLang="en-US">
              <a:solidFill>
                <a:schemeClr val="tx1"/>
              </a:solidFill>
            </a:endParaRPr>
          </a:p>
        </p:txBody>
      </p:sp>
      <p:sp>
        <p:nvSpPr>
          <p:cNvPr id="10" name="文本框 9"/>
          <p:cNvSpPr txBox="1"/>
          <p:nvPr/>
        </p:nvSpPr>
        <p:spPr>
          <a:xfrm>
            <a:off x="604520" y="4410075"/>
            <a:ext cx="5491480" cy="1198880"/>
          </a:xfrm>
          <a:prstGeom prst="rect">
            <a:avLst/>
          </a:prstGeom>
          <a:noFill/>
        </p:spPr>
        <p:txBody>
          <a:bodyPr wrap="square" rtlCol="0">
            <a:spAutoFit/>
          </a:bodyPr>
          <a:p>
            <a:r>
              <a:rPr lang="zh-CN" altLang="en-US"/>
              <a:t>这篇文章认为，世界模型由视觉压缩模型和记忆预测模型组成。它先把高维观测压缩成低维 </a:t>
            </a:r>
            <a:r>
              <a:rPr lang="en-US" altLang="zh-CN"/>
              <a:t>latent state zt​</a:t>
            </a:r>
            <a:r>
              <a:rPr lang="zh-CN" altLang="en-US"/>
              <a:t>，再结合当前动作 </a:t>
            </a:r>
            <a:r>
              <a:rPr lang="en-US" altLang="zh-CN"/>
              <a:t>at</a:t>
            </a:r>
            <a:r>
              <a:rPr lang="zh-CN" altLang="en-US"/>
              <a:t>和 </a:t>
            </a:r>
            <a:r>
              <a:rPr lang="en-US" altLang="zh-CN"/>
              <a:t>RNN </a:t>
            </a:r>
            <a:r>
              <a:rPr lang="zh-CN" altLang="en-US"/>
              <a:t>隐藏记忆 </a:t>
            </a:r>
            <a:r>
              <a:rPr lang="en-US" altLang="zh-CN"/>
              <a:t>ht</a:t>
            </a:r>
            <a:r>
              <a:rPr lang="zh-CN" altLang="en-US"/>
              <a:t>，预测下一时刻 </a:t>
            </a:r>
            <a:r>
              <a:rPr lang="en-US" altLang="zh-CN"/>
              <a:t>latent state zt+1</a:t>
            </a:r>
            <a:r>
              <a:rPr lang="zh-CN" altLang="en-US"/>
              <a:t>的</a:t>
            </a:r>
            <a:r>
              <a:rPr lang="zh-CN" altLang="en-US">
                <a:solidFill>
                  <a:schemeClr val="accent6"/>
                </a:solidFill>
              </a:rPr>
              <a:t>条件概率分布</a:t>
            </a:r>
            <a:r>
              <a:rPr lang="zh-CN" altLang="en-US"/>
              <a:t>。</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76225" y="299720"/>
            <a:ext cx="4758055" cy="922020"/>
          </a:xfrm>
          <a:prstGeom prst="rect">
            <a:avLst/>
          </a:prstGeom>
          <a:noFill/>
        </p:spPr>
        <p:txBody>
          <a:bodyPr wrap="square" rtlCol="0">
            <a:spAutoFit/>
          </a:bodyPr>
          <a:p>
            <a:r>
              <a:rPr lang="zh-CN" altLang="en-US"/>
              <a:t>未来的 </a:t>
            </a:r>
            <a:r>
              <a:rPr lang="en-US" altLang="zh-CN"/>
              <a:t>latent state zt+1</a:t>
            </a:r>
            <a:r>
              <a:rPr lang="zh-CN" altLang="en-US"/>
              <a:t>是一个不确定的随机变量，世界模型用一个条件概率分布来描述它可能出现的位置。</a:t>
            </a:r>
            <a:endParaRPr lang="zh-CN" altLang="en-US"/>
          </a:p>
        </p:txBody>
      </p:sp>
      <p:pic>
        <p:nvPicPr>
          <p:cNvPr id="3" name="图片 2"/>
          <p:cNvPicPr>
            <a:picLocks noChangeAspect="1"/>
          </p:cNvPicPr>
          <p:nvPr/>
        </p:nvPicPr>
        <p:blipFill>
          <a:blip r:embed="rId1"/>
          <a:stretch>
            <a:fillRect/>
          </a:stretch>
        </p:blipFill>
        <p:spPr>
          <a:xfrm>
            <a:off x="4608830" y="1820545"/>
            <a:ext cx="2324100" cy="523875"/>
          </a:xfrm>
          <a:prstGeom prst="rect">
            <a:avLst/>
          </a:prstGeom>
        </p:spPr>
      </p:pic>
      <p:sp>
        <p:nvSpPr>
          <p:cNvPr id="4" name="文本框 3"/>
          <p:cNvSpPr txBox="1"/>
          <p:nvPr/>
        </p:nvSpPr>
        <p:spPr>
          <a:xfrm>
            <a:off x="1807210" y="2773045"/>
            <a:ext cx="7550150" cy="1198880"/>
          </a:xfrm>
          <a:prstGeom prst="rect">
            <a:avLst/>
          </a:prstGeom>
          <a:noFill/>
        </p:spPr>
        <p:txBody>
          <a:bodyPr wrap="square" rtlCol="0">
            <a:spAutoFit/>
          </a:bodyPr>
          <a:p>
            <a:r>
              <a:rPr lang="zh-CN" altLang="en-US"/>
              <a:t>这些未来不是围绕一个单一平均值的小波动，而是有多个可能模式。所以文章使用 </a:t>
            </a:r>
            <a:r>
              <a:rPr lang="en-US" altLang="zh-CN">
                <a:solidFill>
                  <a:schemeClr val="accent6"/>
                </a:solidFill>
              </a:rPr>
              <a:t>Mixture of Gaussian distribution，</a:t>
            </a:r>
            <a:r>
              <a:rPr lang="zh-CN" altLang="en-US">
                <a:solidFill>
                  <a:schemeClr val="accent6"/>
                </a:solidFill>
              </a:rPr>
              <a:t>也就是高斯混合分布</a:t>
            </a:r>
            <a:r>
              <a:rPr lang="zh-CN" altLang="en-US"/>
              <a:t>。作者也提到，混合模型中的离散 </a:t>
            </a:r>
            <a:r>
              <a:rPr lang="en-US" altLang="zh-CN"/>
              <a:t>mode </a:t>
            </a:r>
            <a:r>
              <a:rPr lang="zh-CN" altLang="en-US"/>
              <a:t>对建模随机离散事件很有用，比如怪物是否发射火球。</a:t>
            </a:r>
            <a:endParaRPr lang="zh-CN" altLang="en-US"/>
          </a:p>
        </p:txBody>
      </p:sp>
      <p:sp>
        <p:nvSpPr>
          <p:cNvPr id="5" name="文本框 4"/>
          <p:cNvSpPr txBox="1"/>
          <p:nvPr/>
        </p:nvSpPr>
        <p:spPr>
          <a:xfrm>
            <a:off x="1219200" y="4836795"/>
            <a:ext cx="8925560" cy="922020"/>
          </a:xfrm>
          <a:prstGeom prst="rect">
            <a:avLst/>
          </a:prstGeom>
          <a:noFill/>
        </p:spPr>
        <p:txBody>
          <a:bodyPr wrap="square" rtlCol="0">
            <a:spAutoFit/>
          </a:bodyPr>
          <a:p>
            <a:r>
              <a:rPr lang="zh-CN" altLang="en-US"/>
              <a:t>世界模型不是直接预测一个唯一的未来 </a:t>
            </a:r>
            <a:r>
              <a:rPr lang="en-US" altLang="zh-CN"/>
              <a:t>latent state，</a:t>
            </a:r>
            <a:r>
              <a:rPr lang="zh-CN" altLang="en-US"/>
              <a:t>而是根据当前状态、当前动作和历史记忆，估计下一时刻 </a:t>
            </a:r>
            <a:r>
              <a:rPr lang="en-US" altLang="zh-CN"/>
              <a:t>latent state </a:t>
            </a:r>
            <a:r>
              <a:rPr lang="zh-CN" altLang="en-US"/>
              <a:t>的条件概率分布。这样做是因为未来具有不确定性和多种可能模式，概率分布可以比单一预测值更好地描述这些可能性。</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84150" y="213360"/>
            <a:ext cx="6609080" cy="368300"/>
          </a:xfrm>
          <a:prstGeom prst="rect">
            <a:avLst/>
          </a:prstGeom>
          <a:noFill/>
        </p:spPr>
        <p:txBody>
          <a:bodyPr wrap="square" rtlCol="0">
            <a:spAutoFit/>
          </a:bodyPr>
          <a:p>
            <a:r>
              <a:rPr lang="zh-CN" altLang="en-US"/>
              <a:t>世界模型本身不需要 </a:t>
            </a:r>
            <a:r>
              <a:rPr lang="en-US" altLang="zh-CN"/>
              <a:t>reward</a:t>
            </a:r>
            <a:endParaRPr lang="en-US" altLang="zh-CN"/>
          </a:p>
        </p:txBody>
      </p:sp>
      <p:sp>
        <p:nvSpPr>
          <p:cNvPr id="3" name="文本框 2"/>
          <p:cNvSpPr txBox="1"/>
          <p:nvPr/>
        </p:nvSpPr>
        <p:spPr>
          <a:xfrm>
            <a:off x="857250" y="667385"/>
            <a:ext cx="11002645" cy="645160"/>
          </a:xfrm>
          <a:prstGeom prst="rect">
            <a:avLst/>
          </a:prstGeom>
          <a:noFill/>
        </p:spPr>
        <p:txBody>
          <a:bodyPr wrap="square" rtlCol="0">
            <a:spAutoFit/>
          </a:bodyPr>
          <a:p>
            <a:r>
              <a:rPr lang="zh-CN" altLang="en-US"/>
              <a:t>世界模型可以先通过无监督/自监督方式学习环境结构，然后再用于具体任务。</a:t>
            </a:r>
            <a:r>
              <a:rPr lang="zh-CN" altLang="en-US">
                <a:solidFill>
                  <a:schemeClr val="accent6"/>
                </a:solidFill>
              </a:rPr>
              <a:t>世界模型可以作为一个通用的理解世界的</a:t>
            </a:r>
            <a:r>
              <a:rPr lang="zh-CN" altLang="en-US">
                <a:solidFill>
                  <a:schemeClr val="accent6"/>
                </a:solidFill>
              </a:rPr>
              <a:t>感知大脑</a:t>
            </a:r>
            <a:endParaRPr lang="zh-CN" altLang="en-US">
              <a:solidFill>
                <a:schemeClr val="accent6"/>
              </a:solidFill>
            </a:endParaRPr>
          </a:p>
        </p:txBody>
      </p:sp>
      <p:sp>
        <p:nvSpPr>
          <p:cNvPr id="4" name="文本框 3"/>
          <p:cNvSpPr txBox="1"/>
          <p:nvPr/>
        </p:nvSpPr>
        <p:spPr>
          <a:xfrm>
            <a:off x="297180" y="1398270"/>
            <a:ext cx="4064000" cy="368300"/>
          </a:xfrm>
          <a:prstGeom prst="rect">
            <a:avLst/>
          </a:prstGeom>
          <a:noFill/>
        </p:spPr>
        <p:txBody>
          <a:bodyPr wrap="square" rtlCol="0">
            <a:spAutoFit/>
          </a:bodyPr>
          <a:p>
            <a:r>
              <a:rPr lang="zh-CN" altLang="en-US"/>
              <a:t>世界模型会被策略钻漏洞</a:t>
            </a:r>
            <a:endParaRPr lang="zh-CN" altLang="en-US"/>
          </a:p>
        </p:txBody>
      </p:sp>
      <p:sp>
        <p:nvSpPr>
          <p:cNvPr id="5" name="文本框 4"/>
          <p:cNvSpPr txBox="1"/>
          <p:nvPr/>
        </p:nvSpPr>
        <p:spPr>
          <a:xfrm>
            <a:off x="857250" y="1839595"/>
            <a:ext cx="11002645" cy="1198880"/>
          </a:xfrm>
          <a:prstGeom prst="rect">
            <a:avLst/>
          </a:prstGeom>
          <a:noFill/>
        </p:spPr>
        <p:txBody>
          <a:bodyPr wrap="square" rtlCol="0">
            <a:spAutoFit/>
          </a:bodyPr>
          <a:p>
            <a:r>
              <a:rPr lang="zh-CN" altLang="en-US"/>
              <a:t>因为 </a:t>
            </a:r>
            <a:r>
              <a:rPr lang="en-US" altLang="zh-CN"/>
              <a:t>learned world model </a:t>
            </a:r>
            <a:r>
              <a:rPr lang="zh-CN" altLang="en-US"/>
              <a:t>只是现实环境的近似模型，它可能有错误。</a:t>
            </a:r>
            <a:r>
              <a:rPr lang="en-US" altLang="zh-CN"/>
              <a:t>Controller </a:t>
            </a:r>
            <a:r>
              <a:rPr lang="zh-CN" altLang="en-US"/>
              <a:t>如果只在这个模型中训练，就可能学到一种“欺骗模型”的策略，而不是学到真实环境中有效的策略。文章在 </a:t>
            </a:r>
            <a:r>
              <a:rPr lang="en-US" altLang="zh-CN"/>
              <a:t>VizDoom </a:t>
            </a:r>
            <a:r>
              <a:rPr lang="zh-CN" altLang="en-US"/>
              <a:t>中观察到，</a:t>
            </a:r>
            <a:r>
              <a:rPr lang="en-US" altLang="zh-CN"/>
              <a:t>agent </a:t>
            </a:r>
            <a:r>
              <a:rPr lang="zh-CN" altLang="en-US"/>
              <a:t>有时会发现一种 </a:t>
            </a:r>
            <a:r>
              <a:rPr lang="en-US" altLang="zh-CN"/>
              <a:t>adversarial policy，</a:t>
            </a:r>
            <a:r>
              <a:rPr lang="zh-CN" altLang="en-US"/>
              <a:t>让虚拟环境中的火球消失，或者让怪物不发射火球。这个策略在 </a:t>
            </a:r>
            <a:r>
              <a:rPr lang="en-US" altLang="zh-CN"/>
              <a:t>dream world </a:t>
            </a:r>
            <a:r>
              <a:rPr lang="zh-CN" altLang="en-US"/>
              <a:t>里有效，但在真实环境里会失败。</a:t>
            </a:r>
            <a:endParaRPr lang="zh-CN" altLang="en-US"/>
          </a:p>
        </p:txBody>
      </p:sp>
      <p:sp>
        <p:nvSpPr>
          <p:cNvPr id="6" name="文本框 5"/>
          <p:cNvSpPr txBox="1"/>
          <p:nvPr/>
        </p:nvSpPr>
        <p:spPr>
          <a:xfrm>
            <a:off x="368300" y="3088640"/>
            <a:ext cx="4064000" cy="368300"/>
          </a:xfrm>
          <a:prstGeom prst="rect">
            <a:avLst/>
          </a:prstGeom>
          <a:noFill/>
        </p:spPr>
        <p:txBody>
          <a:bodyPr wrap="square" rtlCol="0">
            <a:spAutoFit/>
          </a:bodyPr>
          <a:p>
            <a:r>
              <a:rPr lang="en-US" altLang="zh-CN"/>
              <a:t>VAE </a:t>
            </a:r>
            <a:r>
              <a:rPr lang="zh-CN" altLang="en-US"/>
              <a:t>压缩不一定等于好的世界表征</a:t>
            </a:r>
            <a:endParaRPr lang="zh-CN" altLang="en-US"/>
          </a:p>
        </p:txBody>
      </p:sp>
      <p:sp>
        <p:nvSpPr>
          <p:cNvPr id="7" name="文本框 6"/>
          <p:cNvSpPr txBox="1"/>
          <p:nvPr/>
        </p:nvSpPr>
        <p:spPr>
          <a:xfrm>
            <a:off x="857250" y="3565525"/>
            <a:ext cx="11002645" cy="645160"/>
          </a:xfrm>
          <a:prstGeom prst="rect">
            <a:avLst/>
          </a:prstGeom>
          <a:noFill/>
        </p:spPr>
        <p:txBody>
          <a:bodyPr wrap="square" rtlCol="0">
            <a:spAutoFit/>
          </a:bodyPr>
          <a:p>
            <a:r>
              <a:rPr lang="zh-CN" altLang="en-US"/>
              <a:t>但“能重建图像”不代表 </a:t>
            </a:r>
            <a:r>
              <a:rPr lang="en-US" altLang="zh-CN"/>
              <a:t>zt	</a:t>
            </a:r>
            <a:r>
              <a:rPr lang="zh-CN" altLang="en-US"/>
              <a:t>一定包含任务最关键的信息。比如 </a:t>
            </a:r>
            <a:r>
              <a:rPr lang="en-US" altLang="zh-CN"/>
              <a:t>VAE </a:t>
            </a:r>
            <a:r>
              <a:rPr lang="zh-CN" altLang="en-US"/>
              <a:t>可能保留了一些视觉细节，但忽略了对控制更重要的状态变量。</a:t>
            </a:r>
            <a:endParaRPr lang="zh-CN" altLang="en-US"/>
          </a:p>
        </p:txBody>
      </p:sp>
      <p:sp>
        <p:nvSpPr>
          <p:cNvPr id="8" name="文本框 7"/>
          <p:cNvSpPr txBox="1"/>
          <p:nvPr/>
        </p:nvSpPr>
        <p:spPr>
          <a:xfrm>
            <a:off x="3316605" y="4367530"/>
            <a:ext cx="7452360" cy="1476375"/>
          </a:xfrm>
          <a:prstGeom prst="rect">
            <a:avLst/>
          </a:prstGeom>
          <a:noFill/>
        </p:spPr>
        <p:txBody>
          <a:bodyPr wrap="square" rtlCol="0">
            <a:spAutoFit/>
          </a:bodyPr>
          <a:p>
            <a:r>
              <a:rPr lang="zh-CN" altLang="en-US"/>
              <a:t>在这篇文章的基本框架中，</a:t>
            </a:r>
            <a:r>
              <a:rPr lang="en-US" altLang="zh-CN"/>
              <a:t>M </a:t>
            </a:r>
            <a:r>
              <a:rPr lang="zh-CN" altLang="en-US"/>
              <a:t>负责理解和预测世界，</a:t>
            </a:r>
            <a:r>
              <a:rPr lang="en-US" altLang="zh-CN"/>
              <a:t>C </a:t>
            </a:r>
            <a:r>
              <a:rPr lang="zh-CN" altLang="en-US"/>
              <a:t>负责选择动作；执行时 </a:t>
            </a:r>
            <a:r>
              <a:rPr lang="en-US" altLang="zh-CN"/>
              <a:t>C </a:t>
            </a:r>
            <a:r>
              <a:rPr lang="zh-CN" altLang="en-US"/>
              <a:t>根据 </a:t>
            </a:r>
            <a:r>
              <a:rPr lang="en-US" altLang="zh-CN"/>
              <a:t>M </a:t>
            </a:r>
            <a:r>
              <a:rPr lang="zh-CN" altLang="en-US"/>
              <a:t>的隐藏状态 </a:t>
            </a:r>
            <a:r>
              <a:rPr lang="en-US" altLang="zh-CN"/>
              <a:t>ht​</a:t>
            </a:r>
            <a:r>
              <a:rPr lang="zh-CN" altLang="en-US"/>
              <a:t>做决策，动作又反过来作为 </a:t>
            </a:r>
            <a:r>
              <a:rPr lang="en-US" altLang="zh-CN"/>
              <a:t>M </a:t>
            </a:r>
            <a:r>
              <a:rPr lang="zh-CN" altLang="en-US"/>
              <a:t>的输入来更新世界模型状态。训练初期通常是 </a:t>
            </a:r>
            <a:r>
              <a:rPr lang="en-US" altLang="zh-CN"/>
              <a:t>M </a:t>
            </a:r>
            <a:r>
              <a:rPr lang="zh-CN" altLang="en-US"/>
              <a:t>先提供世界表征，</a:t>
            </a:r>
            <a:r>
              <a:rPr lang="en-US" altLang="zh-CN"/>
              <a:t>C </a:t>
            </a:r>
            <a:r>
              <a:rPr lang="zh-CN" altLang="en-US"/>
              <a:t>再利用它学习策略；</a:t>
            </a:r>
            <a:r>
              <a:rPr lang="zh-CN" altLang="en-US">
                <a:solidFill>
                  <a:schemeClr val="accent6"/>
                </a:solidFill>
              </a:rPr>
              <a:t>但在迭代训练中，</a:t>
            </a:r>
            <a:r>
              <a:rPr lang="en-US" altLang="zh-CN">
                <a:solidFill>
                  <a:schemeClr val="accent6"/>
                </a:solidFill>
              </a:rPr>
              <a:t>C </a:t>
            </a:r>
            <a:r>
              <a:rPr lang="zh-CN" altLang="en-US">
                <a:solidFill>
                  <a:schemeClr val="accent6"/>
                </a:solidFill>
              </a:rPr>
              <a:t>学到的行为轨迹又会反过来训练 </a:t>
            </a:r>
            <a:r>
              <a:rPr lang="en-US" altLang="zh-CN">
                <a:solidFill>
                  <a:schemeClr val="accent6"/>
                </a:solidFill>
              </a:rPr>
              <a:t>M，</a:t>
            </a:r>
            <a:r>
              <a:rPr lang="zh-CN" altLang="en-US">
                <a:solidFill>
                  <a:schemeClr val="accent6"/>
                </a:solidFill>
              </a:rPr>
              <a:t>因此二者不是单向主导，而是形成一个相互影响的闭环。</a:t>
            </a:r>
            <a:endParaRPr lang="zh-CN" altLang="en-US">
              <a:solidFill>
                <a:schemeClr val="accent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1323</Words>
  <Application>WPS 演示</Application>
  <PresentationFormat>宽屏</PresentationFormat>
  <Paragraphs>33</Paragraphs>
  <Slides>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Arial</vt:lpstr>
      <vt:lpstr>宋体</vt:lpstr>
      <vt:lpstr>Wingdings</vt:lpstr>
      <vt:lpstr>Arial Unicode MS</vt:lpstr>
      <vt:lpstr>Calibri</vt:lpstr>
      <vt:lpstr>微软雅黑</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WPS_1633855939</cp:lastModifiedBy>
  <cp:revision>14</cp:revision>
  <dcterms:created xsi:type="dcterms:W3CDTF">2023-08-09T12:44:00Z</dcterms:created>
  <dcterms:modified xsi:type="dcterms:W3CDTF">2026-06-08T09:15:17Z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31FB8AB230BA4DB08747457F48A08E8B_12</vt:lpwstr>
  </property>
</Properties>
</file>